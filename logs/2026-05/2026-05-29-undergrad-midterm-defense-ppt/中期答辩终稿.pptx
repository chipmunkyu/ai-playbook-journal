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86" r:id="rId2"/>
    <p:sldId id="257" r:id="rId3"/>
    <p:sldId id="258" r:id="rId4"/>
    <p:sldId id="262" r:id="rId5"/>
    <p:sldId id="276" r:id="rId6"/>
    <p:sldId id="260" r:id="rId7"/>
    <p:sldId id="280" r:id="rId8"/>
    <p:sldId id="289" r:id="rId9"/>
    <p:sldId id="292" r:id="rId10"/>
    <p:sldId id="261" r:id="rId11"/>
    <p:sldId id="285" r:id="rId12"/>
    <p:sldId id="28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CEDA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849" autoAdjust="0"/>
  </p:normalViewPr>
  <p:slideViewPr>
    <p:cSldViewPr snapToGrid="0">
      <p:cViewPr>
        <p:scale>
          <a:sx n="66" d="100"/>
          <a:sy n="66" d="100"/>
        </p:scale>
        <p:origin x="121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C74F86C1-9115-4D69-B90D-F5726008B68F}" type="datetimeFigureOut">
              <a:rPr lang="zh-CN" altLang="en-US" smtClean="0"/>
              <a:pPr/>
              <a:t>2026/5/20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A567437-7F5E-4DEC-8355-45FEA434253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19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导师对于此页的指导是一般上面的字会大一点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567437-7F5E-4DEC-8355-45FEA434253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66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567437-7F5E-4DEC-8355-45FEA434253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205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567437-7F5E-4DEC-8355-45FEA434253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3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567437-7F5E-4DEC-8355-45FEA434253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220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800" b="1" kern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567437-7F5E-4DEC-8355-45FEA4342534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7883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218F0-25C0-EE9A-6CFC-618F88E0E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D7A28D-556C-7E7A-50CC-5905634F0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9B287D-F17C-75EA-803A-4B8589E32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4AF6A3-0B8D-8D5E-6777-7D76BC96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19705E-683C-CA64-35D9-E0E3998E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90062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F36D9-36DF-28D2-B5B9-714969C1E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E1765D-21FB-0E5D-9FEF-F3A368AC8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874FB-F765-D734-5DDD-23AAA26C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417682-5087-1A74-4624-2A3761FA0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2F372F-7425-B570-FB0D-1871558F1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67005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E45B2-E099-F5B1-2AD3-1990C9119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D0B405-FF24-EECD-F491-129F13660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9C4EA8-6272-CEA4-C585-431AC3A57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508AF5-EE51-4E4B-71B8-44E05DE2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54E4F8-6336-082C-2CE1-0BF5FF10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77898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62884-2CBE-36BB-60A0-D8B3144EF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ECAB19-4AF5-781B-7218-895E893F9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6C7BD9-F094-C2C1-A09B-5F2139BEE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AB26C5-0471-1C22-B04F-347695F9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B76A2B-B57E-DD85-C25D-9CAD57BE6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F1524C-66A5-3E5D-1A9A-4301BB51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409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B2C25-3F93-6F96-53D6-7CACEF500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E30ECF-E5BA-A352-FFE3-60CFD4E55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6919C7-3626-7E00-B300-2FD44949C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61D5139-A30A-90A9-3C77-1F6973B8EB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552817-FA2D-8466-272E-9DA29E814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870DA44-8FBB-9A3D-69D5-4499D05A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2D745D5-5AC8-2863-5C53-80149915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F44446-4B9D-A362-EB99-63FC6714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74598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E721A-159A-BCCF-9861-9E9CE327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7C8587-14B0-58FC-0F38-4C66D80F5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2323E3-80FE-AC81-1422-DA0424CB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3C06B6-5D9D-BB72-4DEA-B3DA7665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77983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81E842-50FE-6F47-EE51-20B26801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3AE09A-192D-657C-72F1-4E880C61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AAF81E-69C4-3C0A-44CC-CC55B3BF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5520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3FE5F-50E7-8E17-A33C-3E8E8B4C8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6A7BB6-C56E-B516-AD66-865050B47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B9FD8A-559C-C6C1-C402-D3F4CA747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9E51FE-A3C1-F6BB-DA05-74966EBB1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EAC144-0CD7-FE2B-9C71-8FCF98B18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8955FD-3EA3-DF06-E679-42511196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39574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2A493-552F-6122-A6D9-4BDFDBD3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B5C460-2BED-55F2-8277-92BB27BF2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64FFDF-1D2C-065F-582C-826E0A65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1FA651-4A05-A17A-810B-E3BF10212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8F61E2-E3C1-E4CC-12D5-3266AECEA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9CAE4F-2607-2AB3-EE86-870592AC1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75164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6D7B23-468C-F84F-C5C6-A3A78D503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5BA329-0F1F-0D22-62EF-ABE5F16F5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85DB66-41E6-3AD7-CB7E-2F9E996C9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CFDB71-6A24-321F-EDBD-82C14BE40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EEA31-3798-FE00-5D6B-7DB16370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95106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E1EC4A-3AEB-AD70-CEA5-6A6BFF9C33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3E8513-D58E-31E4-5E5F-E4A2A71F5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4D8A16-7DD5-4633-5B4B-F886E7269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9B407F-8885-A2FC-9534-9A58415E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30F99F-6214-58F0-C33E-1915B3DA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37936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396DF31-53EC-E945-D46B-5312C449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6B043D-2CFB-A4B4-5F60-E568F4DEA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43B9D5-45EA-ED50-6003-4317AB98E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4FCC0BA4-6746-9048-B6A4-495461A25885}" type="datetimeFigureOut">
              <a:rPr kumimoji="1" lang="zh-CN" altLang="en-US" smtClean="0"/>
              <a:pPr/>
              <a:t>2026/5/20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6C067E-102E-A83F-AC0E-D3C35E730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6290EF-C9B6-FABD-412A-DC4C0C9FE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642B0E06-33D6-AB49-8B71-AF9FF670A9E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6706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88F81C28-EB7F-AC20-C253-4B93A2A6E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15363" b="15363"/>
          <a:stretch/>
        </p:blipFill>
        <p:spPr bwMode="auto">
          <a:xfrm>
            <a:off x="-1" y="1906438"/>
            <a:ext cx="12191999" cy="495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1FAC132-1CCF-8B13-9F21-05B206275BA4}"/>
              </a:ext>
            </a:extLst>
          </p:cNvPr>
          <p:cNvSpPr/>
          <p:nvPr/>
        </p:nvSpPr>
        <p:spPr>
          <a:xfrm>
            <a:off x="0" y="1906438"/>
            <a:ext cx="12192000" cy="4951562"/>
          </a:xfrm>
          <a:prstGeom prst="rect">
            <a:avLst/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2BA0F9-5829-180E-0EAB-AE5DA31DC0D0}"/>
              </a:ext>
            </a:extLst>
          </p:cNvPr>
          <p:cNvSpPr txBox="1"/>
          <p:nvPr/>
        </p:nvSpPr>
        <p:spPr>
          <a:xfrm>
            <a:off x="-381004" y="2367171"/>
            <a:ext cx="1295400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面向机器翻译公平性测试</a:t>
            </a:r>
            <a:endParaRPr lang="en-US" altLang="zh-CN" sz="66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/>
            <a:r>
              <a:rPr lang="zh-CN" altLang="en-US" sz="66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可靠性的研究</a:t>
            </a:r>
            <a:endParaRPr lang="en-US" altLang="zh-CN" sz="51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F05191-EFAA-0F7F-59DE-C18CF7206227}"/>
              </a:ext>
            </a:extLst>
          </p:cNvPr>
          <p:cNvSpPr txBox="1"/>
          <p:nvPr/>
        </p:nvSpPr>
        <p:spPr>
          <a:xfrm>
            <a:off x="3721303" y="4858274"/>
            <a:ext cx="4749388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答辩者：于静涵 陈思贤</a:t>
            </a:r>
            <a:endParaRPr kumimoji="1" lang="en-US" altLang="zh-CN" sz="20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指导老师：李言辉</a:t>
            </a:r>
            <a:endParaRPr kumimoji="1" lang="en-US" altLang="zh-CN" sz="20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endParaRPr kumimoji="1" lang="en-US" altLang="zh-CN" sz="20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080059-0EAB-6F5C-D7F0-FCBB9497FF35}"/>
              </a:ext>
            </a:extLst>
          </p:cNvPr>
          <p:cNvSpPr txBox="1"/>
          <p:nvPr/>
        </p:nvSpPr>
        <p:spPr>
          <a:xfrm>
            <a:off x="3803599" y="5917795"/>
            <a:ext cx="4749388" cy="504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2026/05/20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A8F1D6-42A2-C5EE-A689-CD2C67B83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914" y="559718"/>
            <a:ext cx="3222172" cy="95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0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9EFB2770-8235-4E8B-FAEC-3A375672CA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69A694-DA8E-2AC9-CB6B-77B48A5BD246}"/>
              </a:ext>
            </a:extLst>
          </p:cNvPr>
          <p:cNvSpPr txBox="1"/>
          <p:nvPr/>
        </p:nvSpPr>
        <p:spPr>
          <a:xfrm>
            <a:off x="454917" y="3261495"/>
            <a:ext cx="304995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CONTENTS</a:t>
            </a:r>
            <a:endParaRPr kumimoji="1"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3E971BB-6E2D-8ED2-AAFB-831D5F6CC3AD}"/>
              </a:ext>
            </a:extLst>
          </p:cNvPr>
          <p:cNvCxnSpPr>
            <a:cxnSpLocks/>
          </p:cNvCxnSpPr>
          <p:nvPr/>
        </p:nvCxnSpPr>
        <p:spPr>
          <a:xfrm>
            <a:off x="3504874" y="2096435"/>
            <a:ext cx="0" cy="3277022"/>
          </a:xfrm>
          <a:prstGeom prst="line">
            <a:avLst/>
          </a:prstGeom>
          <a:ln w="12700">
            <a:solidFill>
              <a:schemeClr val="bg1">
                <a:alpha val="28668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EA74127-7020-E514-18EB-431B22F3A508}"/>
              </a:ext>
            </a:extLst>
          </p:cNvPr>
          <p:cNvSpPr txBox="1"/>
          <p:nvPr/>
        </p:nvSpPr>
        <p:spPr>
          <a:xfrm>
            <a:off x="4482534" y="2096435"/>
            <a:ext cx="740466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1.</a:t>
            </a:r>
            <a:r>
              <a:rPr kumimoji="1"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研究背景动机</a:t>
            </a:r>
            <a:endParaRPr kumimoji="1"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2.</a:t>
            </a:r>
            <a:r>
              <a:rPr kumimoji="1"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阶段性成果</a:t>
            </a:r>
            <a:endParaRPr kumimoji="1"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3.</a:t>
            </a:r>
            <a:r>
              <a:rPr kumimoji="1"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后续计划与预期成果</a:t>
            </a:r>
          </a:p>
          <a:p>
            <a:endParaRPr kumimoji="1" lang="zh-CN" altLang="en-US" sz="28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zh-CN" altLang="en-US" sz="28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E165D3-4A78-EF72-52B1-F55E07568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10140" y="349617"/>
            <a:ext cx="1777041" cy="52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479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AD982E5-8718-B92C-A56A-E3A8638FCE5F}"/>
              </a:ext>
            </a:extLst>
          </p:cNvPr>
          <p:cNvSpPr/>
          <p:nvPr/>
        </p:nvSpPr>
        <p:spPr>
          <a:xfrm>
            <a:off x="0" y="6480574"/>
            <a:ext cx="12192000" cy="37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2D26B1-3E62-12A4-FB46-D84F7E69AA53}"/>
              </a:ext>
            </a:extLst>
          </p:cNvPr>
          <p:cNvSpPr txBox="1"/>
          <p:nvPr/>
        </p:nvSpPr>
        <p:spPr>
          <a:xfrm>
            <a:off x="2463897" y="3048012"/>
            <a:ext cx="726420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kumimoji="1" lang="zh-CN" altLang="en-US" sz="6000" b="1" dirty="0">
                <a:solidFill>
                  <a:schemeClr val="accent1"/>
                </a:solidFill>
                <a:latin typeface="Arial"/>
                <a:ea typeface="黑体" panose="02010609060101010101" pitchFamily="49" charset="-122"/>
                <a:cs typeface="Arial"/>
              </a:rPr>
              <a:t>研究背景动机 </a:t>
            </a:r>
            <a:endParaRPr kumimoji="1" lang="zh-CN" altLang="en-US" sz="6000" b="1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F2E442B-3FA7-34AC-9DEE-E302933228E1}"/>
              </a:ext>
            </a:extLst>
          </p:cNvPr>
          <p:cNvSpPr/>
          <p:nvPr/>
        </p:nvSpPr>
        <p:spPr>
          <a:xfrm>
            <a:off x="5656384" y="2169996"/>
            <a:ext cx="879230" cy="8792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512D53-3A84-73C8-6E98-C228793B24AD}"/>
              </a:ext>
            </a:extLst>
          </p:cNvPr>
          <p:cNvSpPr txBox="1"/>
          <p:nvPr/>
        </p:nvSpPr>
        <p:spPr>
          <a:xfrm>
            <a:off x="5304692" y="2360109"/>
            <a:ext cx="158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01</a:t>
            </a:r>
            <a:endParaRPr kumimoji="1" lang="zh-CN" altLang="en-US" sz="28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3BA7500-8C90-C805-0101-B2B7F6BF2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0140" y="349617"/>
            <a:ext cx="1777041" cy="52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9919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B052F9B-833D-C869-9DCB-BAC7EF4BE137}"/>
              </a:ext>
            </a:extLst>
          </p:cNvPr>
          <p:cNvSpPr/>
          <p:nvPr/>
        </p:nvSpPr>
        <p:spPr>
          <a:xfrm>
            <a:off x="0" y="0"/>
            <a:ext cx="17009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02D9C3B-2904-3023-92A3-DF22A4C67189}"/>
              </a:ext>
            </a:extLst>
          </p:cNvPr>
          <p:cNvSpPr/>
          <p:nvPr/>
        </p:nvSpPr>
        <p:spPr>
          <a:xfrm>
            <a:off x="0" y="1625600"/>
            <a:ext cx="1700979" cy="845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3B02EB25-26D2-FEB1-7B0E-9C6F08C06924}"/>
              </a:ext>
            </a:extLst>
          </p:cNvPr>
          <p:cNvCxnSpPr>
            <a:cxnSpLocks/>
          </p:cNvCxnSpPr>
          <p:nvPr/>
        </p:nvCxnSpPr>
        <p:spPr>
          <a:xfrm>
            <a:off x="2117114" y="1010994"/>
            <a:ext cx="9536170" cy="0"/>
          </a:xfrm>
          <a:prstGeom prst="line">
            <a:avLst/>
          </a:prstGeom>
          <a:ln w="12700">
            <a:solidFill>
              <a:schemeClr val="accent1">
                <a:alpha val="2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07572CD-91CD-1EC9-E95B-42609BABDF60}"/>
              </a:ext>
            </a:extLst>
          </p:cNvPr>
          <p:cNvSpPr txBox="1"/>
          <p:nvPr/>
        </p:nvSpPr>
        <p:spPr>
          <a:xfrm>
            <a:off x="2117113" y="401079"/>
            <a:ext cx="7451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机器翻译公平性是可信 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AI </a:t>
            </a: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中的现实问题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60E9AB2-AFD2-2AEB-BC8D-9EB58AF33409}"/>
              </a:ext>
            </a:extLst>
          </p:cNvPr>
          <p:cNvSpPr txBox="1"/>
          <p:nvPr/>
        </p:nvSpPr>
        <p:spPr>
          <a:xfrm>
            <a:off x="2009040" y="2078301"/>
            <a:ext cx="49425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模型从训练语料中习得社会中</a:t>
            </a:r>
            <a:r>
              <a:rPr lang="zh-CN" altLang="en-US" sz="20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固有的歧视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与偏见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从而在仅</a:t>
            </a:r>
            <a:r>
              <a:rPr lang="zh-CN" altLang="en-US" sz="20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性别、姓名、职业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等特征改变时也会产生差异较大的结果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这种偏见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不仅会影响准确度，也会进一步固化歧视与偏见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5A7DE3-F060-4C14-1790-53567914DBD6}"/>
              </a:ext>
            </a:extLst>
          </p:cNvPr>
          <p:cNvSpPr txBox="1"/>
          <p:nvPr/>
        </p:nvSpPr>
        <p:spPr>
          <a:xfrm>
            <a:off x="0" y="1832383"/>
            <a:ext cx="204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研究背景动机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E93222D-8FF2-424C-0BD5-93CAEA8793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r="76024"/>
          <a:stretch/>
        </p:blipFill>
        <p:spPr>
          <a:xfrm>
            <a:off x="464221" y="280267"/>
            <a:ext cx="772536" cy="95112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90653FC-41BB-031B-8AD7-650A25CCE6C9}"/>
              </a:ext>
            </a:extLst>
          </p:cNvPr>
          <p:cNvSpPr txBox="1"/>
          <p:nvPr/>
        </p:nvSpPr>
        <p:spPr>
          <a:xfrm>
            <a:off x="1855106" y="1126440"/>
            <a:ext cx="100601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80000"/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机器翻译公平性不仅是语言处理问题，也是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可信 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AI 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评估问题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CA1B23-3DBD-EC0D-A7DF-1FD2C96C5C36}"/>
              </a:ext>
            </a:extLst>
          </p:cNvPr>
          <p:cNvSpPr txBox="1"/>
          <p:nvPr/>
        </p:nvSpPr>
        <p:spPr>
          <a:xfrm>
            <a:off x="-58420" y="3284533"/>
            <a:ext cx="2102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阶段性成果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03DBBF-8D7A-09D3-0327-21B512152E97}"/>
              </a:ext>
            </a:extLst>
          </p:cNvPr>
          <p:cNvSpPr txBox="1"/>
          <p:nvPr/>
        </p:nvSpPr>
        <p:spPr>
          <a:xfrm>
            <a:off x="0" y="4535634"/>
            <a:ext cx="1804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后续计划与预期成果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4B9727-824A-940E-3FC9-FF66B7EEF646}"/>
              </a:ext>
            </a:extLst>
          </p:cNvPr>
          <p:cNvSpPr/>
          <p:nvPr/>
        </p:nvSpPr>
        <p:spPr>
          <a:xfrm>
            <a:off x="8814070" y="2643810"/>
            <a:ext cx="3464331" cy="50460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43B33316-A624-8351-FC79-D89EAAAB5C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9505" y="2938555"/>
            <a:ext cx="4090931" cy="474782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B6D7340-DE4A-6D64-BFEA-F57B61265A44}"/>
              </a:ext>
            </a:extLst>
          </p:cNvPr>
          <p:cNvCxnSpPr/>
          <p:nvPr/>
        </p:nvCxnSpPr>
        <p:spPr>
          <a:xfrm>
            <a:off x="7045126" y="2344991"/>
            <a:ext cx="80682" cy="5623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990D329-DA69-2DBD-94EF-BB228F0E7F0E}"/>
              </a:ext>
            </a:extLst>
          </p:cNvPr>
          <p:cNvSpPr txBox="1"/>
          <p:nvPr/>
        </p:nvSpPr>
        <p:spPr>
          <a:xfrm>
            <a:off x="7329266" y="2006351"/>
            <a:ext cx="2400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基线论文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4B4F3A-5FAF-5CEA-4E68-397681C1D3A3}"/>
              </a:ext>
            </a:extLst>
          </p:cNvPr>
          <p:cNvSpPr txBox="1"/>
          <p:nvPr/>
        </p:nvSpPr>
        <p:spPr>
          <a:xfrm>
            <a:off x="10217653" y="2292222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学术热点话题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E63F238-FD9F-3DA4-A1B0-1C37A5AFAD37}"/>
              </a:ext>
            </a:extLst>
          </p:cNvPr>
          <p:cNvCxnSpPr/>
          <p:nvPr/>
        </p:nvCxnSpPr>
        <p:spPr>
          <a:xfrm>
            <a:off x="7329266" y="2444593"/>
            <a:ext cx="1387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7B71ED4-7BBF-BA42-D0C1-8C8609E2E919}"/>
              </a:ext>
            </a:extLst>
          </p:cNvPr>
          <p:cNvSpPr txBox="1"/>
          <p:nvPr/>
        </p:nvSpPr>
        <p:spPr>
          <a:xfrm>
            <a:off x="8037945" y="3125294"/>
            <a:ext cx="1557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ACM TOSEM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E1B387-85BB-7552-E66F-B33E5554F12D}"/>
              </a:ext>
            </a:extLst>
          </p:cNvPr>
          <p:cNvSpPr/>
          <p:nvPr/>
        </p:nvSpPr>
        <p:spPr>
          <a:xfrm>
            <a:off x="2274891" y="4117605"/>
            <a:ext cx="4113592" cy="258734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EBDBEB9-80B7-62C8-EAE8-30E0F068B01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377334" y="4024297"/>
            <a:ext cx="4113592" cy="2587348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2171253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FAE0C7C-6372-6BD0-320C-74592816F012}"/>
              </a:ext>
            </a:extLst>
          </p:cNvPr>
          <p:cNvSpPr/>
          <p:nvPr/>
        </p:nvSpPr>
        <p:spPr>
          <a:xfrm>
            <a:off x="8174070" y="5448980"/>
            <a:ext cx="3734381" cy="10495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3BFC9863-BCF8-12EC-D17D-C5F40FE4FD6E}"/>
              </a:ext>
            </a:extLst>
          </p:cNvPr>
          <p:cNvSpPr/>
          <p:nvPr/>
        </p:nvSpPr>
        <p:spPr>
          <a:xfrm>
            <a:off x="1921716" y="5446618"/>
            <a:ext cx="3734381" cy="10495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6B3E1C-B408-70B1-2131-B81BA2FD3641}"/>
              </a:ext>
            </a:extLst>
          </p:cNvPr>
          <p:cNvSpPr/>
          <p:nvPr/>
        </p:nvSpPr>
        <p:spPr>
          <a:xfrm>
            <a:off x="0" y="0"/>
            <a:ext cx="17009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31A691FB-E1D5-3AC0-D43E-458D684A5013}"/>
              </a:ext>
            </a:extLst>
          </p:cNvPr>
          <p:cNvCxnSpPr>
            <a:cxnSpLocks/>
          </p:cNvCxnSpPr>
          <p:nvPr/>
        </p:nvCxnSpPr>
        <p:spPr>
          <a:xfrm>
            <a:off x="2117114" y="1010994"/>
            <a:ext cx="9536170" cy="0"/>
          </a:xfrm>
          <a:prstGeom prst="line">
            <a:avLst/>
          </a:prstGeom>
          <a:ln w="12700">
            <a:solidFill>
              <a:schemeClr val="accent1">
                <a:alpha val="2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60C835F-4044-AA2A-8EB3-C13F24BD676C}"/>
              </a:ext>
            </a:extLst>
          </p:cNvPr>
          <p:cNvSpPr txBox="1"/>
          <p:nvPr/>
        </p:nvSpPr>
        <p:spPr>
          <a:xfrm>
            <a:off x="2117113" y="391842"/>
            <a:ext cx="7075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从“检测模型偏见”到“改进测试方法”</a:t>
            </a:r>
            <a:endParaRPr lang="en" altLang="zh-CN" sz="2800" b="1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71DDB9F-88E3-17DA-CA40-EA5390E96E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r="76024"/>
          <a:stretch/>
        </p:blipFill>
        <p:spPr>
          <a:xfrm>
            <a:off x="464221" y="280267"/>
            <a:ext cx="772536" cy="95112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DD957F5-321D-2897-D8A5-AA3380D764F3}"/>
              </a:ext>
            </a:extLst>
          </p:cNvPr>
          <p:cNvSpPr txBox="1"/>
          <p:nvPr/>
        </p:nvSpPr>
        <p:spPr>
          <a:xfrm>
            <a:off x="4115820" y="4241796"/>
            <a:ext cx="54400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指标</a:t>
            </a:r>
            <a:r>
              <a:rPr lang="zh-CN" altLang="en-US" sz="24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“语义偏差超阈比例”</a:t>
            </a:r>
            <a:r>
              <a:rPr lang="zh-CN" altLang="en-US" sz="2400" b="1" dirty="0">
                <a:solidFill>
                  <a:schemeClr val="accent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能否忠实反映偏见</a:t>
            </a:r>
            <a:r>
              <a:rPr lang="zh-CN" altLang="en-US" sz="24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？真阳性比例有多少？</a:t>
            </a:r>
            <a:endParaRPr lang="en-US" altLang="zh-CN" sz="24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9C01E00-D751-5E96-B297-2AE7B1A94C56}"/>
              </a:ext>
            </a:extLst>
          </p:cNvPr>
          <p:cNvSpPr/>
          <p:nvPr/>
        </p:nvSpPr>
        <p:spPr>
          <a:xfrm>
            <a:off x="2148074" y="2886554"/>
            <a:ext cx="2842814" cy="3611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替换敏感</a:t>
            </a:r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无关属性</a:t>
            </a:r>
            <a:endParaRPr lang="en-US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BFC3844-535C-D453-6CBC-D7C0989D4226}"/>
              </a:ext>
            </a:extLst>
          </p:cNvPr>
          <p:cNvSpPr/>
          <p:nvPr/>
        </p:nvSpPr>
        <p:spPr>
          <a:xfrm>
            <a:off x="5577880" y="2886552"/>
            <a:ext cx="2842814" cy="3611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比较翻译输出差异</a:t>
            </a:r>
            <a:endParaRPr lang="en-US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50BC16D-6C5B-EDBF-9BA6-ECB200DE5C58}"/>
              </a:ext>
            </a:extLst>
          </p:cNvPr>
          <p:cNvSpPr/>
          <p:nvPr/>
        </p:nvSpPr>
        <p:spPr>
          <a:xfrm>
            <a:off x="8938122" y="2886552"/>
            <a:ext cx="2842814" cy="3611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判断是否存在偏见</a:t>
            </a:r>
            <a:endParaRPr lang="en-US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C1CFBC0-5DB9-97FC-F8DC-4736435A0D8C}"/>
              </a:ext>
            </a:extLst>
          </p:cNvPr>
          <p:cNvSpPr/>
          <p:nvPr/>
        </p:nvSpPr>
        <p:spPr>
          <a:xfrm>
            <a:off x="2044488" y="2697812"/>
            <a:ext cx="9863963" cy="1284929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9DCBEC6B-43F0-3092-08BC-A10FAD297C42}"/>
              </a:ext>
            </a:extLst>
          </p:cNvPr>
          <p:cNvSpPr/>
          <p:nvPr/>
        </p:nvSpPr>
        <p:spPr>
          <a:xfrm>
            <a:off x="5169308" y="2988632"/>
            <a:ext cx="237714" cy="15701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9BF030B1-0B16-2289-10E1-FA90867B69D9}"/>
              </a:ext>
            </a:extLst>
          </p:cNvPr>
          <p:cNvSpPr/>
          <p:nvPr/>
        </p:nvSpPr>
        <p:spPr>
          <a:xfrm>
            <a:off x="8599114" y="2988632"/>
            <a:ext cx="237714" cy="15701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8BB1CF-44E9-0AEA-05AD-AED1A4177F49}"/>
              </a:ext>
            </a:extLst>
          </p:cNvPr>
          <p:cNvSpPr txBox="1"/>
          <p:nvPr/>
        </p:nvSpPr>
        <p:spPr>
          <a:xfrm>
            <a:off x="1921715" y="5555907"/>
            <a:ext cx="37343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对照组质量存疑，</a:t>
            </a:r>
            <a:endParaRPr lang="en-US" altLang="zh-CN" sz="24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不能排除干扰因素的影响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C75568-26E4-80B4-6237-CE73F4AEAF55}"/>
              </a:ext>
            </a:extLst>
          </p:cNvPr>
          <p:cNvSpPr txBox="1"/>
          <p:nvPr/>
        </p:nvSpPr>
        <p:spPr>
          <a:xfrm>
            <a:off x="2344419" y="3340276"/>
            <a:ext cx="951407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关键前提：</a:t>
            </a:r>
            <a:r>
              <a:rPr lang="en-US" altLang="zh-CN" sz="20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text</a:t>
            </a:r>
            <a:r>
              <a:rPr lang="zh-CN" altLang="en-US" sz="20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的替换只会改变敏感属性，不会导致其他语义的变化</a:t>
            </a:r>
            <a:endParaRPr lang="en-US" altLang="zh-CN" sz="20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8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2A06712-8F80-D1A7-88FB-04197B007A33}"/>
              </a:ext>
            </a:extLst>
          </p:cNvPr>
          <p:cNvSpPr txBox="1"/>
          <p:nvPr/>
        </p:nvSpPr>
        <p:spPr>
          <a:xfrm>
            <a:off x="2130673" y="2114174"/>
            <a:ext cx="231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现有的方法：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46B8CB-F727-0FB9-9B79-5EDDA87A72D0}"/>
              </a:ext>
            </a:extLst>
          </p:cNvPr>
          <p:cNvSpPr txBox="1"/>
          <p:nvPr/>
        </p:nvSpPr>
        <p:spPr>
          <a:xfrm>
            <a:off x="8257843" y="5573574"/>
            <a:ext cx="37343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统计指标会扩大偏见范围，导致假阳性比例较大</a:t>
            </a:r>
            <a:endParaRPr lang="en-US" altLang="zh-CN" sz="24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3890C7BA-5A08-B725-7017-48219B76BCA9}"/>
              </a:ext>
            </a:extLst>
          </p:cNvPr>
          <p:cNvSpPr/>
          <p:nvPr/>
        </p:nvSpPr>
        <p:spPr>
          <a:xfrm>
            <a:off x="3288873" y="4111052"/>
            <a:ext cx="341522" cy="11572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箭头: 下 31">
            <a:extLst>
              <a:ext uri="{FF2B5EF4-FFF2-40B4-BE49-F238E27FC236}">
                <a16:creationId xmlns:a16="http://schemas.microsoft.com/office/drawing/2014/main" id="{2CA648EF-ED48-5D3B-2E0A-C7771699D523}"/>
              </a:ext>
            </a:extLst>
          </p:cNvPr>
          <p:cNvSpPr/>
          <p:nvPr/>
        </p:nvSpPr>
        <p:spPr>
          <a:xfrm>
            <a:off x="10125033" y="4106484"/>
            <a:ext cx="341522" cy="11572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1E7865-5B66-5BF9-DAF5-1FBF2C3863DE}"/>
              </a:ext>
            </a:extLst>
          </p:cNvPr>
          <p:cNvSpPr/>
          <p:nvPr/>
        </p:nvSpPr>
        <p:spPr>
          <a:xfrm>
            <a:off x="0" y="1625600"/>
            <a:ext cx="1700979" cy="845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489E60-481B-F218-4C28-CEE1863F00AE}"/>
              </a:ext>
            </a:extLst>
          </p:cNvPr>
          <p:cNvSpPr txBox="1"/>
          <p:nvPr/>
        </p:nvSpPr>
        <p:spPr>
          <a:xfrm>
            <a:off x="0" y="1832383"/>
            <a:ext cx="204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研究背景动机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E1270A-EC1C-355C-F08E-CE7D63A01C19}"/>
              </a:ext>
            </a:extLst>
          </p:cNvPr>
          <p:cNvSpPr txBox="1"/>
          <p:nvPr/>
        </p:nvSpPr>
        <p:spPr>
          <a:xfrm>
            <a:off x="-58420" y="3284533"/>
            <a:ext cx="2102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阶段性成果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3ED5D41-DF44-4E3B-F33D-EB74FB513599}"/>
              </a:ext>
            </a:extLst>
          </p:cNvPr>
          <p:cNvSpPr txBox="1"/>
          <p:nvPr/>
        </p:nvSpPr>
        <p:spPr>
          <a:xfrm>
            <a:off x="0" y="4535634"/>
            <a:ext cx="1804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后续计划与预期成果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7B0A9D8-3F3A-39ED-2246-85413ABFCF31}"/>
              </a:ext>
            </a:extLst>
          </p:cNvPr>
          <p:cNvSpPr txBox="1"/>
          <p:nvPr/>
        </p:nvSpPr>
        <p:spPr>
          <a:xfrm>
            <a:off x="3796615" y="1196251"/>
            <a:ext cx="61771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我们的项目追问：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当前公平性测试方法是否可靠？</a:t>
            </a:r>
            <a:endParaRPr lang="en-US" altLang="zh-CN" sz="28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83653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AD982E5-8718-B92C-A56A-E3A8638FCE5F}"/>
              </a:ext>
            </a:extLst>
          </p:cNvPr>
          <p:cNvSpPr/>
          <p:nvPr/>
        </p:nvSpPr>
        <p:spPr>
          <a:xfrm>
            <a:off x="0" y="6480574"/>
            <a:ext cx="12192000" cy="37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F2E442B-3FA7-34AC-9DEE-E302933228E1}"/>
              </a:ext>
            </a:extLst>
          </p:cNvPr>
          <p:cNvSpPr/>
          <p:nvPr/>
        </p:nvSpPr>
        <p:spPr>
          <a:xfrm>
            <a:off x="5656385" y="2182104"/>
            <a:ext cx="879230" cy="8792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512D53-3A84-73C8-6E98-C228793B24AD}"/>
              </a:ext>
            </a:extLst>
          </p:cNvPr>
          <p:cNvSpPr txBox="1"/>
          <p:nvPr/>
        </p:nvSpPr>
        <p:spPr>
          <a:xfrm>
            <a:off x="5304692" y="2360109"/>
            <a:ext cx="158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02</a:t>
            </a:r>
            <a:endParaRPr kumimoji="1" lang="zh-CN" altLang="en-US" sz="28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B34D0AE-486B-41B0-0F2D-EC0E7AB82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0140" y="349617"/>
            <a:ext cx="1777041" cy="52454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89BF008-953C-ED25-307D-6D975B996681}"/>
              </a:ext>
            </a:extLst>
          </p:cNvPr>
          <p:cNvSpPr txBox="1"/>
          <p:nvPr/>
        </p:nvSpPr>
        <p:spPr>
          <a:xfrm>
            <a:off x="2463896" y="3054673"/>
            <a:ext cx="72642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0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阶段性成果</a:t>
            </a:r>
            <a:endParaRPr kumimoji="1" lang="en-US" altLang="zh-CN" sz="6000" b="1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D1DF3D-7D86-8DCF-C7A5-36033F3AB6DF}"/>
              </a:ext>
            </a:extLst>
          </p:cNvPr>
          <p:cNvSpPr txBox="1"/>
          <p:nvPr/>
        </p:nvSpPr>
        <p:spPr>
          <a:xfrm>
            <a:off x="3047999" y="406367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从验证旧方法到提出新方案</a:t>
            </a:r>
          </a:p>
        </p:txBody>
      </p:sp>
    </p:spTree>
    <p:extLst>
      <p:ext uri="{BB962C8B-B14F-4D97-AF65-F5344CB8AC3E}">
        <p14:creationId xmlns:p14="http://schemas.microsoft.com/office/powerpoint/2010/main" val="26212679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CE44093A-0E9B-336C-A3E1-2490AA45DC7E}"/>
              </a:ext>
            </a:extLst>
          </p:cNvPr>
          <p:cNvSpPr/>
          <p:nvPr/>
        </p:nvSpPr>
        <p:spPr>
          <a:xfrm>
            <a:off x="8255194" y="2101025"/>
            <a:ext cx="2847902" cy="35040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矩形: 剪去对角 35">
            <a:extLst>
              <a:ext uri="{FF2B5EF4-FFF2-40B4-BE49-F238E27FC236}">
                <a16:creationId xmlns:a16="http://schemas.microsoft.com/office/drawing/2014/main" id="{E765CE5F-7F39-FC83-EB3C-9D07243BC7C4}"/>
              </a:ext>
            </a:extLst>
          </p:cNvPr>
          <p:cNvSpPr/>
          <p:nvPr/>
        </p:nvSpPr>
        <p:spPr>
          <a:xfrm>
            <a:off x="8305847" y="1509538"/>
            <a:ext cx="2529142" cy="481630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矩形: 剪去对角 33">
            <a:extLst>
              <a:ext uri="{FF2B5EF4-FFF2-40B4-BE49-F238E27FC236}">
                <a16:creationId xmlns:a16="http://schemas.microsoft.com/office/drawing/2014/main" id="{4E01F050-2209-9C62-5AE8-5788FE8A17F4}"/>
              </a:ext>
            </a:extLst>
          </p:cNvPr>
          <p:cNvSpPr/>
          <p:nvPr/>
        </p:nvSpPr>
        <p:spPr>
          <a:xfrm>
            <a:off x="2630167" y="1511812"/>
            <a:ext cx="2436073" cy="481630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6B3E1C-B408-70B1-2131-B81BA2FD3641}"/>
              </a:ext>
            </a:extLst>
          </p:cNvPr>
          <p:cNvSpPr/>
          <p:nvPr/>
        </p:nvSpPr>
        <p:spPr>
          <a:xfrm>
            <a:off x="0" y="0"/>
            <a:ext cx="17009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4EFF4A-F6EB-F552-3E2A-901C24015424}"/>
              </a:ext>
            </a:extLst>
          </p:cNvPr>
          <p:cNvSpPr/>
          <p:nvPr/>
        </p:nvSpPr>
        <p:spPr>
          <a:xfrm>
            <a:off x="12516" y="3257524"/>
            <a:ext cx="1700979" cy="931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31A691FB-E1D5-3AC0-D43E-458D684A5013}"/>
              </a:ext>
            </a:extLst>
          </p:cNvPr>
          <p:cNvCxnSpPr>
            <a:cxnSpLocks/>
          </p:cNvCxnSpPr>
          <p:nvPr/>
        </p:nvCxnSpPr>
        <p:spPr>
          <a:xfrm>
            <a:off x="2117114" y="1010994"/>
            <a:ext cx="9536170" cy="0"/>
          </a:xfrm>
          <a:prstGeom prst="line">
            <a:avLst/>
          </a:prstGeom>
          <a:ln w="12700">
            <a:solidFill>
              <a:schemeClr val="accent1">
                <a:alpha val="2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60C835F-4044-AA2A-8EB3-C13F24BD676C}"/>
              </a:ext>
            </a:extLst>
          </p:cNvPr>
          <p:cNvSpPr txBox="1"/>
          <p:nvPr/>
        </p:nvSpPr>
        <p:spPr>
          <a:xfrm>
            <a:off x="2117112" y="401079"/>
            <a:ext cx="8398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我们的成果</a:t>
            </a:r>
            <a:endParaRPr lang="en" altLang="zh-CN" sz="28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5896218-B7F8-932B-310A-738CA500FC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r="76024"/>
          <a:stretch/>
        </p:blipFill>
        <p:spPr>
          <a:xfrm>
            <a:off x="464221" y="280267"/>
            <a:ext cx="772536" cy="95112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45B3406-1B6B-86B8-D931-BA79711CFBDE}"/>
              </a:ext>
            </a:extLst>
          </p:cNvPr>
          <p:cNvSpPr txBox="1"/>
          <p:nvPr/>
        </p:nvSpPr>
        <p:spPr>
          <a:xfrm>
            <a:off x="0" y="3496390"/>
            <a:ext cx="2102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阶段性成果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C63D2A4-1FC0-294F-4D0B-2FB2F69E12B1}"/>
              </a:ext>
            </a:extLst>
          </p:cNvPr>
          <p:cNvSpPr txBox="1"/>
          <p:nvPr/>
        </p:nvSpPr>
        <p:spPr>
          <a:xfrm>
            <a:off x="29517" y="5049788"/>
            <a:ext cx="1804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后续计划与预期成果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BCF6FC-A293-71BD-6F0E-520D72F7D8AC}"/>
              </a:ext>
            </a:extLst>
          </p:cNvPr>
          <p:cNvSpPr txBox="1"/>
          <p:nvPr/>
        </p:nvSpPr>
        <p:spPr>
          <a:xfrm>
            <a:off x="128131" y="1827551"/>
            <a:ext cx="1639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研究背景概览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4CC1F98B-671F-70AF-8A06-FDA3BDF91013}"/>
              </a:ext>
            </a:extLst>
          </p:cNvPr>
          <p:cNvSpPr/>
          <p:nvPr/>
        </p:nvSpPr>
        <p:spPr>
          <a:xfrm>
            <a:off x="5786546" y="2777211"/>
            <a:ext cx="1891622" cy="572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C5E11806-8129-B661-1353-F8B1731CD23A}"/>
              </a:ext>
            </a:extLst>
          </p:cNvPr>
          <p:cNvSpPr/>
          <p:nvPr/>
        </p:nvSpPr>
        <p:spPr>
          <a:xfrm>
            <a:off x="5812212" y="4210623"/>
            <a:ext cx="1891622" cy="572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BBE0A9D-4167-768C-DF61-6741F86D7F85}"/>
              </a:ext>
            </a:extLst>
          </p:cNvPr>
          <p:cNvSpPr/>
          <p:nvPr/>
        </p:nvSpPr>
        <p:spPr>
          <a:xfrm>
            <a:off x="2533609" y="2101025"/>
            <a:ext cx="2847902" cy="35040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275893B-37F6-DB37-157C-E60E26DE0167}"/>
              </a:ext>
            </a:extLst>
          </p:cNvPr>
          <p:cNvSpPr txBox="1"/>
          <p:nvPr/>
        </p:nvSpPr>
        <p:spPr>
          <a:xfrm>
            <a:off x="2633658" y="2480727"/>
            <a:ext cx="264780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对照组不能排除干扰因素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衡量指标导致假阳性比例较高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5F0C27D-69DF-FF9A-6BA3-09D42ADD2D84}"/>
              </a:ext>
            </a:extLst>
          </p:cNvPr>
          <p:cNvSpPr txBox="1"/>
          <p:nvPr/>
        </p:nvSpPr>
        <p:spPr>
          <a:xfrm>
            <a:off x="8455292" y="2515011"/>
            <a:ext cx="26478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新的对照组的生成检验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新的歧视评估流程和指标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780E461-547A-7940-C85B-CD43054E88EE}"/>
              </a:ext>
            </a:extLst>
          </p:cNvPr>
          <p:cNvSpPr txBox="1"/>
          <p:nvPr/>
        </p:nvSpPr>
        <p:spPr>
          <a:xfrm>
            <a:off x="2684311" y="1509538"/>
            <a:ext cx="2647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现有方法问题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660CAB2-CA5B-F2E8-E369-A03690F89CEA}"/>
              </a:ext>
            </a:extLst>
          </p:cNvPr>
          <p:cNvSpPr txBox="1"/>
          <p:nvPr/>
        </p:nvSpPr>
        <p:spPr>
          <a:xfrm>
            <a:off x="8239188" y="1509538"/>
            <a:ext cx="2847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针对性改进工作</a:t>
            </a:r>
          </a:p>
        </p:txBody>
      </p:sp>
    </p:spTree>
    <p:extLst>
      <p:ext uri="{BB962C8B-B14F-4D97-AF65-F5344CB8AC3E}">
        <p14:creationId xmlns:p14="http://schemas.microsoft.com/office/powerpoint/2010/main" val="24012221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C5361-6680-3B9A-B03D-2540A901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7998ED15-00F2-7905-3023-ADFE5CAEA639}"/>
              </a:ext>
            </a:extLst>
          </p:cNvPr>
          <p:cNvSpPr/>
          <p:nvPr/>
        </p:nvSpPr>
        <p:spPr>
          <a:xfrm>
            <a:off x="8220442" y="4917868"/>
            <a:ext cx="3542347" cy="18399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0FF32DC-794F-C24E-C469-AC3BE3CDB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488" y="5151173"/>
            <a:ext cx="2607073" cy="1319147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1DD820BE-F425-CE43-C9F4-4CB4E2DDFB13}"/>
              </a:ext>
            </a:extLst>
          </p:cNvPr>
          <p:cNvSpPr/>
          <p:nvPr/>
        </p:nvSpPr>
        <p:spPr>
          <a:xfrm>
            <a:off x="9627762" y="2144725"/>
            <a:ext cx="2572362" cy="22925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28FB46A7-85B6-0E8F-547A-0F299F387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909" y="4980555"/>
            <a:ext cx="2126223" cy="177220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DAB1F33-44EE-4A07-6008-A217EC8BB7AF}"/>
              </a:ext>
            </a:extLst>
          </p:cNvPr>
          <p:cNvSpPr/>
          <p:nvPr/>
        </p:nvSpPr>
        <p:spPr>
          <a:xfrm>
            <a:off x="0" y="0"/>
            <a:ext cx="17009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404A8342-00DB-D8CB-D38C-8B9E9CF0F210}"/>
              </a:ext>
            </a:extLst>
          </p:cNvPr>
          <p:cNvCxnSpPr>
            <a:cxnSpLocks/>
          </p:cNvCxnSpPr>
          <p:nvPr/>
        </p:nvCxnSpPr>
        <p:spPr>
          <a:xfrm>
            <a:off x="2117114" y="1010994"/>
            <a:ext cx="9536170" cy="0"/>
          </a:xfrm>
          <a:prstGeom prst="line">
            <a:avLst/>
          </a:prstGeom>
          <a:ln w="12700">
            <a:solidFill>
              <a:schemeClr val="accent1">
                <a:alpha val="2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ACA485B-FB5E-A56C-E376-F0E7DA69AB2B}"/>
              </a:ext>
            </a:extLst>
          </p:cNvPr>
          <p:cNvSpPr txBox="1"/>
          <p:nvPr/>
        </p:nvSpPr>
        <p:spPr>
          <a:xfrm>
            <a:off x="2117112" y="401079"/>
            <a:ext cx="83984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优化方法：新的对照组的生成与检验</a:t>
            </a:r>
          </a:p>
          <a:p>
            <a:pPr marL="342900" indent="-342900">
              <a:buFont typeface="Wingdings" pitchFamily="2" charset="2"/>
              <a:buChar char="Ø"/>
            </a:pPr>
            <a:endParaRPr lang="en" altLang="zh-CN" sz="2800" b="1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4D9226D-4F14-6F03-46BC-CEDB894772E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r="76024"/>
          <a:stretch/>
        </p:blipFill>
        <p:spPr>
          <a:xfrm>
            <a:off x="464221" y="280267"/>
            <a:ext cx="772536" cy="95112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FE4BA17-B533-634A-75C3-7F2F01218735}"/>
              </a:ext>
            </a:extLst>
          </p:cNvPr>
          <p:cNvSpPr txBox="1"/>
          <p:nvPr/>
        </p:nvSpPr>
        <p:spPr>
          <a:xfrm>
            <a:off x="1890944" y="1118749"/>
            <a:ext cx="80757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针对原有对照组质量问题，我们设计了新的测试集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3586ACD-CBCF-669A-1372-447579E28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420304"/>
              </p:ext>
            </p:extLst>
          </p:nvPr>
        </p:nvGraphicFramePr>
        <p:xfrm>
          <a:off x="6022446" y="2054234"/>
          <a:ext cx="3231968" cy="1838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511">
                  <a:extLst>
                    <a:ext uri="{9D8B030D-6E8A-4147-A177-3AD203B41FA5}">
                      <a16:colId xmlns:a16="http://schemas.microsoft.com/office/drawing/2014/main" val="2051512446"/>
                    </a:ext>
                  </a:extLst>
                </a:gridCol>
                <a:gridCol w="1345195">
                  <a:extLst>
                    <a:ext uri="{9D8B030D-6E8A-4147-A177-3AD203B41FA5}">
                      <a16:colId xmlns:a16="http://schemas.microsoft.com/office/drawing/2014/main" val="3807782857"/>
                    </a:ext>
                  </a:extLst>
                </a:gridCol>
                <a:gridCol w="1363262">
                  <a:extLst>
                    <a:ext uri="{9D8B030D-6E8A-4147-A177-3AD203B41FA5}">
                      <a16:colId xmlns:a16="http://schemas.microsoft.com/office/drawing/2014/main" val="2088770703"/>
                    </a:ext>
                  </a:extLst>
                </a:gridCol>
              </a:tblGrid>
              <a:tr h="9242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Nc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对性别有关位置做同性变化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更合理的比较参照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220528"/>
                  </a:ext>
                </a:extLst>
              </a:tr>
              <a:tr h="887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Sc</a:t>
                      </a:r>
                      <a:endParaRPr lang="zh-CN" altLang="en-US" sz="18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语义相似的性别反转名字替换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更干净的敏感属性变化本身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99748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82E28B39-8F82-77CB-D701-4BEA8EB03E72}"/>
              </a:ext>
            </a:extLst>
          </p:cNvPr>
          <p:cNvSpPr txBox="1"/>
          <p:nvPr/>
        </p:nvSpPr>
        <p:spPr>
          <a:xfrm>
            <a:off x="8220442" y="5025916"/>
            <a:ext cx="37995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针对发现的问题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提出并验证了更合适的实验设计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固化生成方法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80A98B6-4D13-15C7-5D1F-07FFCCEDC064}"/>
              </a:ext>
            </a:extLst>
          </p:cNvPr>
          <p:cNvSpPr txBox="1"/>
          <p:nvPr/>
        </p:nvSpPr>
        <p:spPr>
          <a:xfrm>
            <a:off x="2050274" y="4437254"/>
            <a:ext cx="4608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从单次生成→可复用生成方法：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1D034C9-4458-C214-2EEC-EED82088AC0B}"/>
              </a:ext>
            </a:extLst>
          </p:cNvPr>
          <p:cNvSpPr/>
          <p:nvPr/>
        </p:nvSpPr>
        <p:spPr>
          <a:xfrm>
            <a:off x="2491289" y="5434957"/>
            <a:ext cx="1804781" cy="75158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</a:t>
            </a:r>
            <a:endParaRPr lang="en-US" altLang="zh-CN" sz="20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代码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10D9DF0-3766-5441-BDF0-6BDC6CA2C1C7}"/>
              </a:ext>
            </a:extLst>
          </p:cNvPr>
          <p:cNvSpPr/>
          <p:nvPr/>
        </p:nvSpPr>
        <p:spPr>
          <a:xfrm>
            <a:off x="5569769" y="5434957"/>
            <a:ext cx="1804781" cy="75158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变异</a:t>
            </a:r>
            <a:endParaRPr lang="en-US" altLang="zh-CN" sz="20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数据集</a:t>
            </a:r>
          </a:p>
        </p:txBody>
      </p:sp>
      <p:sp>
        <p:nvSpPr>
          <p:cNvPr id="20" name="加号 19">
            <a:extLst>
              <a:ext uri="{FF2B5EF4-FFF2-40B4-BE49-F238E27FC236}">
                <a16:creationId xmlns:a16="http://schemas.microsoft.com/office/drawing/2014/main" id="{5ACCBD24-81BA-2A28-B07B-66C5ACC3584E}"/>
              </a:ext>
            </a:extLst>
          </p:cNvPr>
          <p:cNvSpPr/>
          <p:nvPr/>
        </p:nvSpPr>
        <p:spPr>
          <a:xfrm>
            <a:off x="4651561" y="5585775"/>
            <a:ext cx="597551" cy="525157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7BA7BF75-FBB9-5254-0DFE-33FB994BDD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7625" y="2035301"/>
            <a:ext cx="2572362" cy="2370079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34F1CC12-5DC6-68DA-9AEC-CE5E441D1D3F}"/>
              </a:ext>
            </a:extLst>
          </p:cNvPr>
          <p:cNvSpPr/>
          <p:nvPr/>
        </p:nvSpPr>
        <p:spPr>
          <a:xfrm>
            <a:off x="0" y="3257524"/>
            <a:ext cx="1737161" cy="1489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AFF37DB-B4ED-CBDA-382F-F8B0888D538E}"/>
              </a:ext>
            </a:extLst>
          </p:cNvPr>
          <p:cNvSpPr txBox="1"/>
          <p:nvPr/>
        </p:nvSpPr>
        <p:spPr>
          <a:xfrm>
            <a:off x="0" y="3496390"/>
            <a:ext cx="19651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阶段性成果</a:t>
            </a:r>
            <a:endParaRPr kumimoji="1" lang="en-US" altLang="zh-CN" sz="2400" b="1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新的对照组的生成检验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4A2E502-AC5B-7DCC-0AD4-D34E35B6F01C}"/>
              </a:ext>
            </a:extLst>
          </p:cNvPr>
          <p:cNvSpPr txBox="1"/>
          <p:nvPr/>
        </p:nvSpPr>
        <p:spPr>
          <a:xfrm>
            <a:off x="29517" y="5049788"/>
            <a:ext cx="1804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后续计划与预期成果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A609BC7-7F81-80D6-309A-CEDDB856ED5E}"/>
              </a:ext>
            </a:extLst>
          </p:cNvPr>
          <p:cNvSpPr txBox="1"/>
          <p:nvPr/>
        </p:nvSpPr>
        <p:spPr>
          <a:xfrm>
            <a:off x="128131" y="1827551"/>
            <a:ext cx="1639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研究背景概览</a:t>
            </a:r>
          </a:p>
        </p:txBody>
      </p:sp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93C07C66-1ACF-130D-F81E-135098934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343079"/>
              </p:ext>
            </p:extLst>
          </p:nvPr>
        </p:nvGraphicFramePr>
        <p:xfrm>
          <a:off x="1965153" y="2057901"/>
          <a:ext cx="3170595" cy="1838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570">
                  <a:extLst>
                    <a:ext uri="{9D8B030D-6E8A-4147-A177-3AD203B41FA5}">
                      <a16:colId xmlns:a16="http://schemas.microsoft.com/office/drawing/2014/main" val="2051512446"/>
                    </a:ext>
                  </a:extLst>
                </a:gridCol>
                <a:gridCol w="1319650">
                  <a:extLst>
                    <a:ext uri="{9D8B030D-6E8A-4147-A177-3AD203B41FA5}">
                      <a16:colId xmlns:a16="http://schemas.microsoft.com/office/drawing/2014/main" val="3807782857"/>
                    </a:ext>
                  </a:extLst>
                </a:gridCol>
                <a:gridCol w="1337375">
                  <a:extLst>
                    <a:ext uri="{9D8B030D-6E8A-4147-A177-3AD203B41FA5}">
                      <a16:colId xmlns:a16="http://schemas.microsoft.com/office/drawing/2014/main" val="2088770703"/>
                    </a:ext>
                  </a:extLst>
                </a:gridCol>
              </a:tblGrid>
              <a:tr h="9242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Nu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改变性别无关词汇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实测语义改变量过小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220528"/>
                  </a:ext>
                </a:extLst>
              </a:tr>
              <a:tr h="887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S</a:t>
                      </a:r>
                      <a:endParaRPr lang="zh-CN" altLang="en-US" sz="18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替换随机性别反转名字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改变敏感变量同时引入干扰因素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99748"/>
                  </a:ext>
                </a:extLst>
              </a:tr>
            </a:tbl>
          </a:graphicData>
        </a:graphic>
      </p:graphicFrame>
      <p:sp>
        <p:nvSpPr>
          <p:cNvPr id="41" name="箭头: 右 40">
            <a:extLst>
              <a:ext uri="{FF2B5EF4-FFF2-40B4-BE49-F238E27FC236}">
                <a16:creationId xmlns:a16="http://schemas.microsoft.com/office/drawing/2014/main" id="{BAFDE905-78D7-1AC6-FA7F-694FA61FE142}"/>
              </a:ext>
            </a:extLst>
          </p:cNvPr>
          <p:cNvSpPr/>
          <p:nvPr/>
        </p:nvSpPr>
        <p:spPr>
          <a:xfrm>
            <a:off x="5320909" y="2817065"/>
            <a:ext cx="537905" cy="291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2ACD494-FEC6-5611-BD52-8E8461121DD5}"/>
              </a:ext>
            </a:extLst>
          </p:cNvPr>
          <p:cNvSpPr txBox="1"/>
          <p:nvPr/>
        </p:nvSpPr>
        <p:spPr>
          <a:xfrm>
            <a:off x="2013676" y="1653753"/>
            <a:ext cx="1117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原实验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24242E3-9C4D-7EC9-0943-7ECAECD8ACF3}"/>
              </a:ext>
            </a:extLst>
          </p:cNvPr>
          <p:cNvSpPr txBox="1"/>
          <p:nvPr/>
        </p:nvSpPr>
        <p:spPr>
          <a:xfrm>
            <a:off x="6100374" y="1658798"/>
            <a:ext cx="1117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新设计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B88255D-1C57-F475-0CEF-EBA195000C77}"/>
              </a:ext>
            </a:extLst>
          </p:cNvPr>
          <p:cNvSpPr txBox="1"/>
          <p:nvPr/>
        </p:nvSpPr>
        <p:spPr>
          <a:xfrm>
            <a:off x="9796422" y="1644391"/>
            <a:ext cx="1671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部分检验证明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96A3714-FCE9-FAFE-6ACC-3443FAC6F8F4}"/>
              </a:ext>
            </a:extLst>
          </p:cNvPr>
          <p:cNvSpPr/>
          <p:nvPr/>
        </p:nvSpPr>
        <p:spPr>
          <a:xfrm>
            <a:off x="4950336" y="6436568"/>
            <a:ext cx="2856717" cy="3161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3092C3-7757-4849-C061-86D9C060F5F8}"/>
              </a:ext>
            </a:extLst>
          </p:cNvPr>
          <p:cNvSpPr txBox="1"/>
          <p:nvPr/>
        </p:nvSpPr>
        <p:spPr>
          <a:xfrm>
            <a:off x="4950336" y="6436473"/>
            <a:ext cx="3063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人工细筛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300+,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跨多个文化背景</a:t>
            </a:r>
          </a:p>
        </p:txBody>
      </p:sp>
    </p:spTree>
    <p:extLst>
      <p:ext uri="{BB962C8B-B14F-4D97-AF65-F5344CB8AC3E}">
        <p14:creationId xmlns:p14="http://schemas.microsoft.com/office/powerpoint/2010/main" val="10144767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BE6D1-FEDF-668F-198C-C6CEEC2E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: 剪去对角 65">
            <a:extLst>
              <a:ext uri="{FF2B5EF4-FFF2-40B4-BE49-F238E27FC236}">
                <a16:creationId xmlns:a16="http://schemas.microsoft.com/office/drawing/2014/main" id="{BBB2682B-763A-E90E-4A2B-EC759789AF0B}"/>
              </a:ext>
            </a:extLst>
          </p:cNvPr>
          <p:cNvSpPr/>
          <p:nvPr/>
        </p:nvSpPr>
        <p:spPr>
          <a:xfrm>
            <a:off x="1905244" y="4304609"/>
            <a:ext cx="2520501" cy="499726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: 剪去对角 64">
            <a:extLst>
              <a:ext uri="{FF2B5EF4-FFF2-40B4-BE49-F238E27FC236}">
                <a16:creationId xmlns:a16="http://schemas.microsoft.com/office/drawing/2014/main" id="{75CD647A-8053-3765-75AB-7BF7E721F2A4}"/>
              </a:ext>
            </a:extLst>
          </p:cNvPr>
          <p:cNvSpPr/>
          <p:nvPr/>
        </p:nvSpPr>
        <p:spPr>
          <a:xfrm>
            <a:off x="1904886" y="2631078"/>
            <a:ext cx="2520501" cy="499726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: 剪去对角 63">
            <a:extLst>
              <a:ext uri="{FF2B5EF4-FFF2-40B4-BE49-F238E27FC236}">
                <a16:creationId xmlns:a16="http://schemas.microsoft.com/office/drawing/2014/main" id="{B3C8FCD1-AF04-F206-CD4C-A2C5D412ECA9}"/>
              </a:ext>
            </a:extLst>
          </p:cNvPr>
          <p:cNvSpPr/>
          <p:nvPr/>
        </p:nvSpPr>
        <p:spPr>
          <a:xfrm>
            <a:off x="1904887" y="1262415"/>
            <a:ext cx="2520501" cy="499726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13F101-37BD-443F-466E-2BC166FEE64A}"/>
              </a:ext>
            </a:extLst>
          </p:cNvPr>
          <p:cNvSpPr/>
          <p:nvPr/>
        </p:nvSpPr>
        <p:spPr>
          <a:xfrm>
            <a:off x="2228038" y="3373712"/>
            <a:ext cx="3170893" cy="369318"/>
          </a:xfrm>
          <a:prstGeom prst="rect">
            <a:avLst/>
          </a:prstGeom>
          <a:solidFill>
            <a:srgbClr val="DAC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E4A10CB-4B04-49AC-F6C0-52BF3CDF12A4}"/>
              </a:ext>
            </a:extLst>
          </p:cNvPr>
          <p:cNvSpPr/>
          <p:nvPr/>
        </p:nvSpPr>
        <p:spPr>
          <a:xfrm>
            <a:off x="6380241" y="2154705"/>
            <a:ext cx="2723823" cy="369318"/>
          </a:xfrm>
          <a:prstGeom prst="rect">
            <a:avLst/>
          </a:prstGeom>
          <a:solidFill>
            <a:srgbClr val="DAC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473191F-6E47-97A2-B998-8DCD1F9863C8}"/>
              </a:ext>
            </a:extLst>
          </p:cNvPr>
          <p:cNvSpPr/>
          <p:nvPr/>
        </p:nvSpPr>
        <p:spPr>
          <a:xfrm>
            <a:off x="6380241" y="1617239"/>
            <a:ext cx="2723823" cy="369318"/>
          </a:xfrm>
          <a:prstGeom prst="rect">
            <a:avLst/>
          </a:prstGeom>
          <a:solidFill>
            <a:srgbClr val="DAC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DD36BA4-0998-CA8D-8FD6-80C1193E08D1}"/>
              </a:ext>
            </a:extLst>
          </p:cNvPr>
          <p:cNvSpPr/>
          <p:nvPr/>
        </p:nvSpPr>
        <p:spPr>
          <a:xfrm>
            <a:off x="2675774" y="1873689"/>
            <a:ext cx="2723823" cy="369318"/>
          </a:xfrm>
          <a:prstGeom prst="rect">
            <a:avLst/>
          </a:prstGeom>
          <a:solidFill>
            <a:srgbClr val="DAC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2E1A78-9646-D4FE-2752-D44181BBB73F}"/>
              </a:ext>
            </a:extLst>
          </p:cNvPr>
          <p:cNvSpPr/>
          <p:nvPr/>
        </p:nvSpPr>
        <p:spPr>
          <a:xfrm>
            <a:off x="0" y="0"/>
            <a:ext cx="17009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A51D04A1-C099-6ED5-5D52-590E7D5FFB42}"/>
              </a:ext>
            </a:extLst>
          </p:cNvPr>
          <p:cNvCxnSpPr>
            <a:cxnSpLocks/>
          </p:cNvCxnSpPr>
          <p:nvPr/>
        </p:nvCxnSpPr>
        <p:spPr>
          <a:xfrm>
            <a:off x="2117114" y="1010994"/>
            <a:ext cx="9536170" cy="0"/>
          </a:xfrm>
          <a:prstGeom prst="line">
            <a:avLst/>
          </a:prstGeom>
          <a:ln w="12700">
            <a:solidFill>
              <a:schemeClr val="accent1">
                <a:alpha val="2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67D2113-E044-5631-808C-9189803D877C}"/>
              </a:ext>
            </a:extLst>
          </p:cNvPr>
          <p:cNvSpPr txBox="1"/>
          <p:nvPr/>
        </p:nvSpPr>
        <p:spPr>
          <a:xfrm>
            <a:off x="2117112" y="401079"/>
            <a:ext cx="8398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改进指标：新的歧视评估流程和指标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6794AC3-0680-3F3F-90D5-AC799266448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r="76024"/>
          <a:stretch/>
        </p:blipFill>
        <p:spPr>
          <a:xfrm>
            <a:off x="464221" y="280267"/>
            <a:ext cx="772536" cy="951124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B844B3BC-E650-AE39-8583-B7A814B96667}"/>
              </a:ext>
            </a:extLst>
          </p:cNvPr>
          <p:cNvSpPr txBox="1"/>
          <p:nvPr/>
        </p:nvSpPr>
        <p:spPr>
          <a:xfrm>
            <a:off x="29517" y="5049788"/>
            <a:ext cx="1804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后续计划与预期成果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BBF223B-23BF-D565-389B-40311C613948}"/>
              </a:ext>
            </a:extLst>
          </p:cNvPr>
          <p:cNvSpPr txBox="1"/>
          <p:nvPr/>
        </p:nvSpPr>
        <p:spPr>
          <a:xfrm>
            <a:off x="128131" y="1827551"/>
            <a:ext cx="1639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研究背景概览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0865A30-08ED-1013-E06C-F53B2EF95573}"/>
              </a:ext>
            </a:extLst>
          </p:cNvPr>
          <p:cNvSpPr/>
          <p:nvPr/>
        </p:nvSpPr>
        <p:spPr>
          <a:xfrm>
            <a:off x="0" y="3257524"/>
            <a:ext cx="1737161" cy="1489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4F91A4C-56B7-4ABA-A728-DFD43C3A8C1D}"/>
              </a:ext>
            </a:extLst>
          </p:cNvPr>
          <p:cNvSpPr txBox="1"/>
          <p:nvPr/>
        </p:nvSpPr>
        <p:spPr>
          <a:xfrm>
            <a:off x="0" y="3496390"/>
            <a:ext cx="19048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阶段性成果</a:t>
            </a:r>
            <a:endParaRPr kumimoji="1" lang="en-US" altLang="zh-CN" sz="2400" b="1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新的歧视评估流程和指标</a:t>
            </a:r>
          </a:p>
          <a:p>
            <a:endParaRPr kumimoji="1"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45AC7F-DCAA-D3C9-F58B-1A1D95C05950}"/>
              </a:ext>
            </a:extLst>
          </p:cNvPr>
          <p:cNvSpPr txBox="1"/>
          <p:nvPr/>
        </p:nvSpPr>
        <p:spPr>
          <a:xfrm>
            <a:off x="2675774" y="18736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相似句翻译结果语义差异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F61805-152E-F447-072C-E51FA2FAD0F6}"/>
              </a:ext>
            </a:extLst>
          </p:cNvPr>
          <p:cNvSpPr txBox="1"/>
          <p:nvPr/>
        </p:nvSpPr>
        <p:spPr>
          <a:xfrm>
            <a:off x="6421741" y="2129691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相似句翻译结果语义差异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B93B96-12DA-3D2E-0440-85C58D2A5024}"/>
              </a:ext>
            </a:extLst>
          </p:cNvPr>
          <p:cNvSpPr txBox="1"/>
          <p:nvPr/>
        </p:nvSpPr>
        <p:spPr>
          <a:xfrm>
            <a:off x="1905554" y="1262415"/>
            <a:ext cx="257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歧视评估依据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2E5F6E-15D9-5C07-4C8F-B83974B0CCB5}"/>
              </a:ext>
            </a:extLst>
          </p:cNvPr>
          <p:cNvSpPr txBox="1"/>
          <p:nvPr/>
        </p:nvSpPr>
        <p:spPr>
          <a:xfrm>
            <a:off x="6421740" y="162091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相似句翻译前语义差异</a:t>
            </a:r>
          </a:p>
        </p:txBody>
      </p:sp>
      <p:sp>
        <p:nvSpPr>
          <p:cNvPr id="22" name="箭头: 右弧形 21">
            <a:extLst>
              <a:ext uri="{FF2B5EF4-FFF2-40B4-BE49-F238E27FC236}">
                <a16:creationId xmlns:a16="http://schemas.microsoft.com/office/drawing/2014/main" id="{ECC21CA0-F69A-5FD3-7EEC-5353C54934F5}"/>
              </a:ext>
            </a:extLst>
          </p:cNvPr>
          <p:cNvSpPr/>
          <p:nvPr/>
        </p:nvSpPr>
        <p:spPr>
          <a:xfrm>
            <a:off x="9145563" y="1801898"/>
            <a:ext cx="404451" cy="537466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24CA76B-68EA-A50C-638D-20884847D0A7}"/>
              </a:ext>
            </a:extLst>
          </p:cNvPr>
          <p:cNvSpPr txBox="1"/>
          <p:nvPr/>
        </p:nvSpPr>
        <p:spPr>
          <a:xfrm>
            <a:off x="9668677" y="1898858"/>
            <a:ext cx="802717" cy="369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比较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5FC702B-14E0-6B9F-F25D-FC8EEA8184E6}"/>
              </a:ext>
            </a:extLst>
          </p:cNvPr>
          <p:cNvSpPr txBox="1"/>
          <p:nvPr/>
        </p:nvSpPr>
        <p:spPr>
          <a:xfrm>
            <a:off x="1904887" y="2671940"/>
            <a:ext cx="2520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歧视评估指标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0177A9D-DE0E-D535-4301-03FFD43D97C8}"/>
              </a:ext>
            </a:extLst>
          </p:cNvPr>
          <p:cNvSpPr txBox="1"/>
          <p:nvPr/>
        </p:nvSpPr>
        <p:spPr>
          <a:xfrm>
            <a:off x="2213444" y="3373726"/>
            <a:ext cx="3185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翻译结果差异超过阈值的比例</a:t>
            </a:r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BEAE74F4-D56C-D298-9B6A-9EBE54010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168268"/>
              </p:ext>
            </p:extLst>
          </p:nvPr>
        </p:nvGraphicFramePr>
        <p:xfrm>
          <a:off x="6379575" y="2969891"/>
          <a:ext cx="531526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991">
                  <a:extLst>
                    <a:ext uri="{9D8B030D-6E8A-4147-A177-3AD203B41FA5}">
                      <a16:colId xmlns:a16="http://schemas.microsoft.com/office/drawing/2014/main" val="2059116610"/>
                    </a:ext>
                  </a:extLst>
                </a:gridCol>
                <a:gridCol w="4125270">
                  <a:extLst>
                    <a:ext uri="{9D8B030D-6E8A-4147-A177-3AD203B41FA5}">
                      <a16:colId xmlns:a16="http://schemas.microsoft.com/office/drawing/2014/main" val="1749311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回归分析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用于衡量输入变化对输出变化的影响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27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净化阈值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剔除在对照和敏感组中均超阈的样本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56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归因分析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根据改动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vs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偏见对差异的贡献折算比例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108850"/>
                  </a:ext>
                </a:extLst>
              </a:tr>
            </a:tbl>
          </a:graphicData>
        </a:graphic>
      </p:graphicFrame>
      <p:sp>
        <p:nvSpPr>
          <p:cNvPr id="42" name="箭头: 右 41">
            <a:extLst>
              <a:ext uri="{FF2B5EF4-FFF2-40B4-BE49-F238E27FC236}">
                <a16:creationId xmlns:a16="http://schemas.microsoft.com/office/drawing/2014/main" id="{78FE68A8-B17D-0064-ADAA-23310E159D2E}"/>
              </a:ext>
            </a:extLst>
          </p:cNvPr>
          <p:cNvSpPr/>
          <p:nvPr/>
        </p:nvSpPr>
        <p:spPr>
          <a:xfrm>
            <a:off x="5513604" y="1959517"/>
            <a:ext cx="739896" cy="2308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28281202-049E-371F-A399-AFBD460BD355}"/>
              </a:ext>
            </a:extLst>
          </p:cNvPr>
          <p:cNvSpPr/>
          <p:nvPr/>
        </p:nvSpPr>
        <p:spPr>
          <a:xfrm>
            <a:off x="5512938" y="3442954"/>
            <a:ext cx="739896" cy="2308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CB5E39FB-2C3B-A133-D0BB-90E48745EDD6}"/>
              </a:ext>
            </a:extLst>
          </p:cNvPr>
          <p:cNvSpPr/>
          <p:nvPr/>
        </p:nvSpPr>
        <p:spPr>
          <a:xfrm>
            <a:off x="3101955" y="4910886"/>
            <a:ext cx="2212822" cy="27780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替换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text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敏感属性</a:t>
            </a:r>
            <a:endParaRPr lang="en-US" altLang="zh-CN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DFA7DD36-4AE4-6A92-4959-054FE70DD25C}"/>
              </a:ext>
            </a:extLst>
          </p:cNvPr>
          <p:cNvSpPr/>
          <p:nvPr/>
        </p:nvSpPr>
        <p:spPr>
          <a:xfrm>
            <a:off x="3102148" y="5388277"/>
            <a:ext cx="2212823" cy="27780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比较翻译输出差异</a:t>
            </a:r>
            <a:endParaRPr lang="en-US" altLang="zh-CN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0D79CDD1-8357-6CBF-C11F-DD005AD2E61C}"/>
              </a:ext>
            </a:extLst>
          </p:cNvPr>
          <p:cNvSpPr/>
          <p:nvPr/>
        </p:nvSpPr>
        <p:spPr>
          <a:xfrm>
            <a:off x="3101954" y="5865668"/>
            <a:ext cx="2212823" cy="2773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判断是否存在偏见</a:t>
            </a:r>
            <a:endParaRPr lang="en-US" altLang="zh-CN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" name="箭头: 右 61">
            <a:extLst>
              <a:ext uri="{FF2B5EF4-FFF2-40B4-BE49-F238E27FC236}">
                <a16:creationId xmlns:a16="http://schemas.microsoft.com/office/drawing/2014/main" id="{86A0AAE8-9435-8F92-F86A-F6C68DC99FB4}"/>
              </a:ext>
            </a:extLst>
          </p:cNvPr>
          <p:cNvSpPr/>
          <p:nvPr/>
        </p:nvSpPr>
        <p:spPr>
          <a:xfrm>
            <a:off x="5512938" y="5321757"/>
            <a:ext cx="739896" cy="2308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993F4CB-602E-E85B-531A-4B01EA9D83D9}"/>
              </a:ext>
            </a:extLst>
          </p:cNvPr>
          <p:cNvSpPr txBox="1"/>
          <p:nvPr/>
        </p:nvSpPr>
        <p:spPr>
          <a:xfrm>
            <a:off x="1904888" y="4316694"/>
            <a:ext cx="2415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歧视评估流程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FD0670C0-8E22-4AA6-6B92-748EA7AA6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383064"/>
              </p:ext>
            </p:extLst>
          </p:nvPr>
        </p:nvGraphicFramePr>
        <p:xfrm>
          <a:off x="6421740" y="4554472"/>
          <a:ext cx="5315261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991">
                  <a:extLst>
                    <a:ext uri="{9D8B030D-6E8A-4147-A177-3AD203B41FA5}">
                      <a16:colId xmlns:a16="http://schemas.microsoft.com/office/drawing/2014/main" val="2059116610"/>
                    </a:ext>
                  </a:extLst>
                </a:gridCol>
                <a:gridCol w="4125270">
                  <a:extLst>
                    <a:ext uri="{9D8B030D-6E8A-4147-A177-3AD203B41FA5}">
                      <a16:colId xmlns:a16="http://schemas.microsoft.com/office/drawing/2014/main" val="1749311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输入层</a:t>
                      </a:r>
                      <a:endParaRPr lang="en-US" altLang="zh-CN" b="1" dirty="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原始数据集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27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生成层</a:t>
                      </a:r>
                      <a:endParaRPr lang="en-US" altLang="zh-CN" b="1" dirty="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生成变异组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56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筛选层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计算可比性 缩小测试集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108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输出层</a:t>
                      </a:r>
                      <a:endParaRPr lang="en-US" altLang="zh-CN" b="1" dirty="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翻译样本 计算原始数据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055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评估层</a:t>
                      </a:r>
                      <a:endParaRPr lang="en-US" altLang="zh-CN" b="1" dirty="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进入风险结果标准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+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输入控制解释标准</a:t>
                      </a:r>
                      <a:endParaRPr lang="zh-CN" altLang="en-US" sz="18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529466"/>
                  </a:ext>
                </a:extLst>
              </a:tr>
              <a:tr h="1271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结果输出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可比性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+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风险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+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解释）结果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+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样本级定位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93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00323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AD982E5-8718-B92C-A56A-E3A8638FCE5F}"/>
              </a:ext>
            </a:extLst>
          </p:cNvPr>
          <p:cNvSpPr/>
          <p:nvPr/>
        </p:nvSpPr>
        <p:spPr>
          <a:xfrm>
            <a:off x="0" y="6480574"/>
            <a:ext cx="12192000" cy="37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F2E442B-3FA7-34AC-9DEE-E302933228E1}"/>
              </a:ext>
            </a:extLst>
          </p:cNvPr>
          <p:cNvSpPr/>
          <p:nvPr/>
        </p:nvSpPr>
        <p:spPr>
          <a:xfrm>
            <a:off x="5656385" y="2182104"/>
            <a:ext cx="879230" cy="8792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512D53-3A84-73C8-6E98-C228793B24AD}"/>
              </a:ext>
            </a:extLst>
          </p:cNvPr>
          <p:cNvSpPr txBox="1"/>
          <p:nvPr/>
        </p:nvSpPr>
        <p:spPr>
          <a:xfrm>
            <a:off x="5304692" y="2360109"/>
            <a:ext cx="158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03</a:t>
            </a:r>
            <a:endParaRPr kumimoji="1" lang="zh-CN" altLang="en-US" sz="28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385746-B4E6-BF32-17DA-B6E706A4F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0140" y="349617"/>
            <a:ext cx="1777041" cy="52454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DCE24B6-3B2A-5C2F-DC33-E5248876B639}"/>
              </a:ext>
            </a:extLst>
          </p:cNvPr>
          <p:cNvSpPr txBox="1"/>
          <p:nvPr/>
        </p:nvSpPr>
        <p:spPr>
          <a:xfrm>
            <a:off x="2463896" y="3054673"/>
            <a:ext cx="72642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0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后续计划与预期成果</a:t>
            </a:r>
            <a:endParaRPr kumimoji="1" lang="en-US" altLang="zh-CN" sz="6000" b="1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1149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一个圆顶角，剪去另一个顶角 8">
            <a:extLst>
              <a:ext uri="{FF2B5EF4-FFF2-40B4-BE49-F238E27FC236}">
                <a16:creationId xmlns:a16="http://schemas.microsoft.com/office/drawing/2014/main" id="{9720F078-55FA-1976-E666-EF99AE31CAFD}"/>
              </a:ext>
            </a:extLst>
          </p:cNvPr>
          <p:cNvSpPr/>
          <p:nvPr/>
        </p:nvSpPr>
        <p:spPr>
          <a:xfrm>
            <a:off x="2290354" y="4308096"/>
            <a:ext cx="7420420" cy="2484585"/>
          </a:xfrm>
          <a:prstGeom prst="snip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CE27A0B1-459E-A8AE-5914-BCBDC621D390}"/>
              </a:ext>
            </a:extLst>
          </p:cNvPr>
          <p:cNvCxnSpPr>
            <a:cxnSpLocks/>
          </p:cNvCxnSpPr>
          <p:nvPr/>
        </p:nvCxnSpPr>
        <p:spPr>
          <a:xfrm>
            <a:off x="2117114" y="1010994"/>
            <a:ext cx="9536170" cy="0"/>
          </a:xfrm>
          <a:prstGeom prst="line">
            <a:avLst/>
          </a:prstGeom>
          <a:ln w="12700">
            <a:solidFill>
              <a:schemeClr val="accent1">
                <a:alpha val="2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909B780-E601-C43E-4982-714F736EA71F}"/>
              </a:ext>
            </a:extLst>
          </p:cNvPr>
          <p:cNvSpPr txBox="1"/>
          <p:nvPr/>
        </p:nvSpPr>
        <p:spPr>
          <a:xfrm>
            <a:off x="2117112" y="401079"/>
            <a:ext cx="8398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后续计划与预期成果</a:t>
            </a:r>
            <a:endParaRPr lang="en" altLang="zh-CN" sz="2800" b="1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CF4FF2-53EE-86F2-6A87-AA6F87086254}"/>
              </a:ext>
            </a:extLst>
          </p:cNvPr>
          <p:cNvSpPr/>
          <p:nvPr/>
        </p:nvSpPr>
        <p:spPr>
          <a:xfrm>
            <a:off x="0" y="0"/>
            <a:ext cx="17009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6EAB52-D65F-A59F-6D77-F7A38429059D}"/>
              </a:ext>
            </a:extLst>
          </p:cNvPr>
          <p:cNvSpPr/>
          <p:nvPr/>
        </p:nvSpPr>
        <p:spPr>
          <a:xfrm>
            <a:off x="0" y="4754881"/>
            <a:ext cx="1700979" cy="1385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B214E48-4927-8544-E189-39DC946AB6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r="76024"/>
          <a:stretch/>
        </p:blipFill>
        <p:spPr>
          <a:xfrm>
            <a:off x="464221" y="280267"/>
            <a:ext cx="772536" cy="95112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2648E0C-F689-56C2-DDB3-17CB20134059}"/>
              </a:ext>
            </a:extLst>
          </p:cNvPr>
          <p:cNvSpPr txBox="1"/>
          <p:nvPr/>
        </p:nvSpPr>
        <p:spPr>
          <a:xfrm>
            <a:off x="2385790" y="4186177"/>
            <a:ext cx="74204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预期成果：</a:t>
            </a:r>
            <a:endParaRPr lang="en-US" altLang="zh-CN" sz="28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一篇关于测试原理优化的论文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一套更谨慎的机器翻译公平性测试流程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一个便于使用的工程化评估流程工具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B63CE75-D6D1-4F79-EF73-8B004D6413C0}"/>
              </a:ext>
            </a:extLst>
          </p:cNvPr>
          <p:cNvSpPr txBox="1"/>
          <p:nvPr/>
        </p:nvSpPr>
        <p:spPr>
          <a:xfrm>
            <a:off x="0" y="3846431"/>
            <a:ext cx="2102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阶段性成果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263FAF-40F5-ABC4-BD86-93AAD6B6E272}"/>
              </a:ext>
            </a:extLst>
          </p:cNvPr>
          <p:cNvSpPr txBox="1"/>
          <p:nvPr/>
        </p:nvSpPr>
        <p:spPr>
          <a:xfrm>
            <a:off x="29517" y="5049788"/>
            <a:ext cx="1804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后续计划与预期成果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20852C9-E230-3AC0-3F25-FD5A935AD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842660"/>
              </p:ext>
            </p:extLst>
          </p:nvPr>
        </p:nvGraphicFramePr>
        <p:xfrm>
          <a:off x="2385790" y="1417290"/>
          <a:ext cx="8917936" cy="2717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1008">
                  <a:extLst>
                    <a:ext uri="{9D8B030D-6E8A-4147-A177-3AD203B41FA5}">
                      <a16:colId xmlns:a16="http://schemas.microsoft.com/office/drawing/2014/main" val="3480843880"/>
                    </a:ext>
                  </a:extLst>
                </a:gridCol>
                <a:gridCol w="5586928">
                  <a:extLst>
                    <a:ext uri="{9D8B030D-6E8A-4147-A177-3AD203B41FA5}">
                      <a16:colId xmlns:a16="http://schemas.microsoft.com/office/drawing/2014/main" val="1855701415"/>
                    </a:ext>
                  </a:extLst>
                </a:gridCol>
              </a:tblGrid>
              <a:tr h="6452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检验结论普适性</a:t>
                      </a:r>
                      <a:endParaRPr lang="en-US" altLang="zh-CN" sz="20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进一步补充现有指标在更多数据集和翻译模型的稳定性证据</a:t>
                      </a:r>
                      <a:endParaRPr lang="en-US" altLang="zh-CN" sz="20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466116"/>
                  </a:ext>
                </a:extLst>
              </a:tr>
              <a:tr h="5460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评价体系交叉验证</a:t>
                      </a:r>
                      <a:endParaRPr lang="en-US" altLang="zh-CN" sz="20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设计比较公式，借助交叉比较增强各指标可信度</a:t>
                      </a:r>
                      <a:endParaRPr lang="en-US" altLang="zh-CN" sz="20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960861"/>
                  </a:ext>
                </a:extLst>
              </a:tr>
              <a:tr h="7695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形成改进后的测试流程</a:t>
                      </a:r>
                      <a:endParaRPr lang="en-US" altLang="zh-CN" sz="20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以“新对照组 + 初始变化量校准 + 多维统计分析”为核心，完善方法闭环</a:t>
                      </a:r>
                      <a:endParaRPr lang="en-US" altLang="zh-CN" sz="20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508454"/>
                  </a:ext>
                </a:extLst>
              </a:tr>
              <a:tr h="6452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推进工程化工具</a:t>
                      </a:r>
                      <a:endParaRPr lang="en-US" altLang="zh-CN" sz="20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尝试将统计分析流程转化为自动化报告或辅助评估工具</a:t>
                      </a:r>
                    </a:p>
                  </a:txBody>
                  <a:tcPr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57370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D4B8793-C610-A622-770D-B25FC1FF4792}"/>
              </a:ext>
            </a:extLst>
          </p:cNvPr>
          <p:cNvSpPr txBox="1"/>
          <p:nvPr/>
        </p:nvSpPr>
        <p:spPr>
          <a:xfrm>
            <a:off x="180672" y="1832383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选题背景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61D1FB-9524-FB4B-1FE4-FD1708205D87}"/>
              </a:ext>
            </a:extLst>
          </p:cNvPr>
          <p:cNvSpPr txBox="1"/>
          <p:nvPr/>
        </p:nvSpPr>
        <p:spPr>
          <a:xfrm>
            <a:off x="180672" y="2832941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研究内容</a:t>
            </a:r>
          </a:p>
        </p:txBody>
      </p:sp>
    </p:spTree>
    <p:extLst>
      <p:ext uri="{BB962C8B-B14F-4D97-AF65-F5344CB8AC3E}">
        <p14:creationId xmlns:p14="http://schemas.microsoft.com/office/powerpoint/2010/main" val="31121053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7F409E1-55DA-8F49-1BDA-D3CDA37B8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15363" b="15363"/>
          <a:stretch/>
        </p:blipFill>
        <p:spPr bwMode="auto">
          <a:xfrm>
            <a:off x="-1" y="1906438"/>
            <a:ext cx="12191999" cy="495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1FAC132-1CCF-8B13-9F21-05B206275BA4}"/>
              </a:ext>
            </a:extLst>
          </p:cNvPr>
          <p:cNvSpPr/>
          <p:nvPr/>
        </p:nvSpPr>
        <p:spPr>
          <a:xfrm>
            <a:off x="0" y="1906438"/>
            <a:ext cx="12192000" cy="4951562"/>
          </a:xfrm>
          <a:prstGeom prst="rect">
            <a:avLst/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2BA0F9-5829-180E-0EAB-AE5DA31DC0D0}"/>
              </a:ext>
            </a:extLst>
          </p:cNvPr>
          <p:cNvSpPr txBox="1"/>
          <p:nvPr/>
        </p:nvSpPr>
        <p:spPr>
          <a:xfrm>
            <a:off x="-381001" y="3168520"/>
            <a:ext cx="1295400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THANK YOU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F05191-EFAA-0F7F-59DE-C18CF7206227}"/>
              </a:ext>
            </a:extLst>
          </p:cNvPr>
          <p:cNvSpPr txBox="1"/>
          <p:nvPr/>
        </p:nvSpPr>
        <p:spPr>
          <a:xfrm>
            <a:off x="3721305" y="4880263"/>
            <a:ext cx="4749388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答辩者：于静涵 陈思贤</a:t>
            </a:r>
            <a:endParaRPr kumimoji="1" lang="en-US" altLang="zh-CN" sz="20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指导老师：李言辉</a:t>
            </a:r>
            <a:endParaRPr kumimoji="1" lang="en-US" altLang="zh-CN" sz="20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endParaRPr kumimoji="1" lang="en-US" altLang="zh-CN" sz="20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080059-0EAB-6F5C-D7F0-FCBB9497FF35}"/>
              </a:ext>
            </a:extLst>
          </p:cNvPr>
          <p:cNvSpPr txBox="1"/>
          <p:nvPr/>
        </p:nvSpPr>
        <p:spPr>
          <a:xfrm>
            <a:off x="3721303" y="5821875"/>
            <a:ext cx="4749388" cy="504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2026/05/20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9C37FB0-526F-85B6-CC3E-66E33893F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914" y="559718"/>
            <a:ext cx="3222172" cy="95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7711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自定义 378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B3C89"/>
      </a:accent1>
      <a:accent2>
        <a:srgbClr val="8B3C89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1237</TotalTime>
  <Words>756</Words>
  <Application>Microsoft Office PowerPoint</Application>
  <PresentationFormat>宽屏</PresentationFormat>
  <Paragraphs>149</Paragraphs>
  <Slides>12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黑体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Microsoft Office User</dc:creator>
  <cp:keywords/>
  <dc:description/>
  <cp:lastModifiedBy>JingHan Yu</cp:lastModifiedBy>
  <cp:revision>56</cp:revision>
  <dcterms:created xsi:type="dcterms:W3CDTF">2023-04-06T03:56:33Z</dcterms:created>
  <dcterms:modified xsi:type="dcterms:W3CDTF">2026-05-20T06:55:58Z</dcterms:modified>
  <cp:category/>
</cp:coreProperties>
</file>