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2"/>
    <p:sldId id="257" r:id="rId3"/>
    <p:sldId id="258" r:id="rId4"/>
    <p:sldId id="262" r:id="rId5"/>
    <p:sldId id="259" r:id="rId6"/>
    <p:sldId id="276" r:id="rId7"/>
    <p:sldId id="260" r:id="rId8"/>
    <p:sldId id="280" r:id="rId9"/>
    <p:sldId id="282" r:id="rId10"/>
    <p:sldId id="289" r:id="rId11"/>
    <p:sldId id="290" r:id="rId12"/>
    <p:sldId id="261" r:id="rId13"/>
    <p:sldId id="285" r:id="rId14"/>
    <p:sldId id="28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CEDA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3" d="100"/>
          <a:sy n="73" d="100"/>
        </p:scale>
        <p:origin x="3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218F0-25C0-EE9A-6CFC-618F88E0E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D7A28D-556C-7E7A-50CC-5905634F0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9B287D-F17C-75EA-803A-4B8589E32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4AF6A3-0B8D-8D5E-6777-7D76BC96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19705E-683C-CA64-35D9-E0E3998E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9006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F36D9-36DF-28D2-B5B9-714969C1E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E1765D-21FB-0E5D-9FEF-F3A368AC8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874FB-F765-D734-5DDD-23AAA26C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417682-5087-1A74-4624-2A3761FA0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2F372F-7425-B570-FB0D-1871558F1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6700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E45B2-E099-F5B1-2AD3-1990C9119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D0B405-FF24-EECD-F491-129F13660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9C4EA8-6272-CEA4-C585-431AC3A57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508AF5-EE51-4E4B-71B8-44E05DE26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54E4F8-6336-082C-2CE1-0BF5FF10C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778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62884-2CBE-36BB-60A0-D8B3144EF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ECAB19-4AF5-781B-7218-895E893F9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6C7BD9-F094-C2C1-A09B-5F2139BEE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AB26C5-0471-1C22-B04F-347695F9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B76A2B-B57E-DD85-C25D-9CAD57BE6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F1524C-66A5-3E5D-1A9A-4301BB51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4092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B2C25-3F93-6F96-53D6-7CACEF500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E30ECF-E5BA-A352-FFE3-60CFD4E55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6919C7-3626-7E00-B300-2FD44949C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61D5139-A30A-90A9-3C77-1F6973B8EB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552817-FA2D-8466-272E-9DA29E814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870DA44-8FBB-9A3D-69D5-4499D05A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2D745D5-5AC8-2863-5C53-80149915E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EF44446-4B9D-A362-EB99-63FC67141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7459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6E721A-159A-BCCF-9861-9E9CE327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7C8587-14B0-58FC-0F38-4C66D80F5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2323E3-80FE-AC81-1422-DA0424CB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3C06B6-5D9D-BB72-4DEA-B3DA7665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7798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81E842-50FE-6F47-EE51-20B26801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3AE09A-192D-657C-72F1-4E880C61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AAF81E-69C4-3C0A-44CC-CC55B3BFF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55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3FE5F-50E7-8E17-A33C-3E8E8B4C8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6A7BB6-C56E-B516-AD66-865050B47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B9FD8A-559C-C6C1-C402-D3F4CA747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9E51FE-A3C1-F6BB-DA05-74966EBB1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EAC144-0CD7-FE2B-9C71-8FCF98B18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8955FD-3EA3-DF06-E679-425111965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3957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2A493-552F-6122-A6D9-4BDFDBD3E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B5C460-2BED-55F2-8277-92BB27BF2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64FFDF-1D2C-065F-582C-826E0A65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1FA651-4A05-A17A-810B-E3BF10212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8F61E2-E3C1-E4CC-12D5-3266AECEA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9CAE4F-2607-2AB3-EE86-870592AC1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751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6D7B23-468C-F84F-C5C6-A3A78D503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5BA329-0F1F-0D22-62EF-ABE5F16F5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85DB66-41E6-3AD7-CB7E-2F9E996C9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CFDB71-6A24-321F-EDBD-82C14BE40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6EEA31-3798-FE00-5D6B-7DB16370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9510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0E1EC4A-3AEB-AD70-CEA5-6A6BFF9C33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3E8513-D58E-31E4-5E5F-E4A2A71F5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4D8A16-7DD5-4633-5B4B-F886E7269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0BA4-6746-9048-B6A4-495461A25885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9B407F-8885-A2FC-9534-9A58415E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30F99F-6214-58F0-C33E-1915B3DA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3793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396DF31-53EC-E945-D46B-5312C449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6B043D-2CFB-A4B4-5F60-E568F4DEA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43B9D5-45EA-ED50-6003-4317AB98E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C0BA4-6746-9048-B6A4-495461A25885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6C067E-102E-A83F-AC0E-D3C35E730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6290EF-C9B6-FABD-412A-DC4C0C9FE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B0E06-33D6-AB49-8B71-AF9FF670A9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6706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88F81C28-EB7F-AC20-C253-4B93A2A6E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15363" b="15363"/>
          <a:stretch/>
        </p:blipFill>
        <p:spPr bwMode="auto">
          <a:xfrm>
            <a:off x="-1" y="1906438"/>
            <a:ext cx="12191999" cy="495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1FAC132-1CCF-8B13-9F21-05B206275BA4}"/>
              </a:ext>
            </a:extLst>
          </p:cNvPr>
          <p:cNvSpPr/>
          <p:nvPr/>
        </p:nvSpPr>
        <p:spPr>
          <a:xfrm>
            <a:off x="0" y="1906438"/>
            <a:ext cx="12192000" cy="4951562"/>
          </a:xfrm>
          <a:prstGeom prst="rect">
            <a:avLst/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2BA0F9-5829-180E-0EAB-AE5DA31DC0D0}"/>
              </a:ext>
            </a:extLst>
          </p:cNvPr>
          <p:cNvSpPr txBox="1"/>
          <p:nvPr/>
        </p:nvSpPr>
        <p:spPr>
          <a:xfrm>
            <a:off x="-381004" y="2367171"/>
            <a:ext cx="1295400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面向机器翻译公平性测试</a:t>
            </a:r>
            <a:endParaRPr lang="en-US" altLang="zh-CN" sz="6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可靠性的研究</a:t>
            </a:r>
            <a:endParaRPr lang="en-US" altLang="zh-CN" sz="5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F05191-EFAA-0F7F-59DE-C18CF7206227}"/>
              </a:ext>
            </a:extLst>
          </p:cNvPr>
          <p:cNvSpPr txBox="1"/>
          <p:nvPr/>
        </p:nvSpPr>
        <p:spPr>
          <a:xfrm>
            <a:off x="3721303" y="4858274"/>
            <a:ext cx="4749388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答辩者：于静涵 陈思贤</a:t>
            </a:r>
            <a:endParaRPr kumimoji="1" lang="en-US" altLang="zh-C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指导老师：李言辉</a:t>
            </a:r>
            <a:endParaRPr kumimoji="1" lang="en-US" altLang="zh-C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endParaRPr kumimoji="1" lang="en-US" altLang="zh-C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080059-0EAB-6F5C-D7F0-FCBB9497FF35}"/>
              </a:ext>
            </a:extLst>
          </p:cNvPr>
          <p:cNvSpPr txBox="1"/>
          <p:nvPr/>
        </p:nvSpPr>
        <p:spPr>
          <a:xfrm>
            <a:off x="3803599" y="5917795"/>
            <a:ext cx="4749388" cy="504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2026/05/20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A8F1D6-42A2-C5EE-A689-CD2C67B83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914" y="559718"/>
            <a:ext cx="3222172" cy="95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08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9EFB2770-8235-4E8B-FAEC-3A375672CA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69A694-DA8E-2AC9-CB6B-77B48A5BD246}"/>
              </a:ext>
            </a:extLst>
          </p:cNvPr>
          <p:cNvSpPr txBox="1"/>
          <p:nvPr/>
        </p:nvSpPr>
        <p:spPr>
          <a:xfrm>
            <a:off x="454917" y="3261495"/>
            <a:ext cx="304995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en-US" altLang="zh-CN" sz="3200" b="1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CONTENTS</a:t>
            </a:r>
            <a:endParaRPr kumimoji="1" lang="zh-CN" altLang="en-US" sz="3200" b="1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3E971BB-6E2D-8ED2-AAFB-831D5F6CC3AD}"/>
              </a:ext>
            </a:extLst>
          </p:cNvPr>
          <p:cNvCxnSpPr>
            <a:cxnSpLocks/>
          </p:cNvCxnSpPr>
          <p:nvPr/>
        </p:nvCxnSpPr>
        <p:spPr>
          <a:xfrm>
            <a:off x="3504874" y="2096435"/>
            <a:ext cx="0" cy="3277022"/>
          </a:xfrm>
          <a:prstGeom prst="line">
            <a:avLst/>
          </a:prstGeom>
          <a:ln w="12700">
            <a:solidFill>
              <a:schemeClr val="bg1">
                <a:alpha val="28668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EA74127-7020-E514-18EB-431B22F3A508}"/>
              </a:ext>
            </a:extLst>
          </p:cNvPr>
          <p:cNvSpPr txBox="1"/>
          <p:nvPr/>
        </p:nvSpPr>
        <p:spPr>
          <a:xfrm>
            <a:off x="4482534" y="2096435"/>
            <a:ext cx="7404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kumimoji="1" lang="zh-CN" alt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选题背景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592CCB0-4A23-D798-8FC0-70F8BA23BB68}"/>
              </a:ext>
            </a:extLst>
          </p:cNvPr>
          <p:cNvSpPr txBox="1"/>
          <p:nvPr/>
        </p:nvSpPr>
        <p:spPr>
          <a:xfrm>
            <a:off x="4482535" y="3014369"/>
            <a:ext cx="7254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kumimoji="1" lang="zh-CN" alt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研究内容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8580D84-F84C-2978-BF47-8237E71AF1AF}"/>
              </a:ext>
            </a:extLst>
          </p:cNvPr>
          <p:cNvSpPr txBox="1"/>
          <p:nvPr/>
        </p:nvSpPr>
        <p:spPr>
          <a:xfrm>
            <a:off x="4482535" y="3932303"/>
            <a:ext cx="7404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kumimoji="1" lang="zh-CN" alt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阶段性成果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AC88F0-BA2C-C333-3A84-6DF25B8CBE73}"/>
              </a:ext>
            </a:extLst>
          </p:cNvPr>
          <p:cNvSpPr txBox="1"/>
          <p:nvPr/>
        </p:nvSpPr>
        <p:spPr>
          <a:xfrm>
            <a:off x="4482534" y="4850237"/>
            <a:ext cx="7404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kumimoji="1" lang="zh-CN" alt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后续计划与预期成果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E165D3-4A78-EF72-52B1-F55E07568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10140" y="349617"/>
            <a:ext cx="1777041" cy="52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479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AD982E5-8718-B92C-A56A-E3A8638FCE5F}"/>
              </a:ext>
            </a:extLst>
          </p:cNvPr>
          <p:cNvSpPr/>
          <p:nvPr/>
        </p:nvSpPr>
        <p:spPr>
          <a:xfrm>
            <a:off x="0" y="6480574"/>
            <a:ext cx="12192000" cy="37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82D26B1-3E62-12A4-FB46-D84F7E69AA53}"/>
              </a:ext>
            </a:extLst>
          </p:cNvPr>
          <p:cNvSpPr txBox="1"/>
          <p:nvPr/>
        </p:nvSpPr>
        <p:spPr>
          <a:xfrm>
            <a:off x="2463897" y="3048012"/>
            <a:ext cx="7264206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kumimoji="1" lang="zh-CN" altLang="en-US" sz="6000" b="1">
                <a:solidFill>
                  <a:schemeClr val="accent1"/>
                </a:solidFill>
                <a:latin typeface="Arial"/>
                <a:ea typeface="等线"/>
                <a:cs typeface="Arial"/>
              </a:rPr>
              <a:t>选题背景 </a:t>
            </a:r>
            <a:endParaRPr kumimoji="1" lang="zh-CN" altLang="en-US" sz="6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F2E442B-3FA7-34AC-9DEE-E302933228E1}"/>
              </a:ext>
            </a:extLst>
          </p:cNvPr>
          <p:cNvSpPr/>
          <p:nvPr/>
        </p:nvSpPr>
        <p:spPr>
          <a:xfrm>
            <a:off x="5656384" y="2169996"/>
            <a:ext cx="879230" cy="8792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9512D53-3A84-73C8-6E98-C228793B24AD}"/>
              </a:ext>
            </a:extLst>
          </p:cNvPr>
          <p:cNvSpPr txBox="1"/>
          <p:nvPr/>
        </p:nvSpPr>
        <p:spPr>
          <a:xfrm>
            <a:off x="5304692" y="2360109"/>
            <a:ext cx="1582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kumimoji="1" lang="zh-CN" altLang="en-US" sz="2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3BA7500-8C90-C805-0101-B2B7F6BF2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0140" y="349617"/>
            <a:ext cx="1777041" cy="52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991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B052F9B-833D-C869-9DCB-BAC7EF4BE137}"/>
              </a:ext>
            </a:extLst>
          </p:cNvPr>
          <p:cNvSpPr/>
          <p:nvPr/>
        </p:nvSpPr>
        <p:spPr>
          <a:xfrm>
            <a:off x="0" y="0"/>
            <a:ext cx="17009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02D9C3B-2904-3023-92A3-DF22A4C67189}"/>
              </a:ext>
            </a:extLst>
          </p:cNvPr>
          <p:cNvSpPr/>
          <p:nvPr/>
        </p:nvSpPr>
        <p:spPr>
          <a:xfrm>
            <a:off x="0" y="1625600"/>
            <a:ext cx="1700979" cy="845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3B02EB25-26D2-FEB1-7B0E-9C6F08C06924}"/>
              </a:ext>
            </a:extLst>
          </p:cNvPr>
          <p:cNvCxnSpPr>
            <a:cxnSpLocks/>
          </p:cNvCxnSpPr>
          <p:nvPr/>
        </p:nvCxnSpPr>
        <p:spPr>
          <a:xfrm>
            <a:off x="2117114" y="1010994"/>
            <a:ext cx="9536170" cy="0"/>
          </a:xfrm>
          <a:prstGeom prst="line">
            <a:avLst/>
          </a:prstGeom>
          <a:ln w="12700">
            <a:solidFill>
              <a:schemeClr val="accent1">
                <a:alpha val="2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07572CD-91CD-1EC9-E95B-42609BABDF60}"/>
              </a:ext>
            </a:extLst>
          </p:cNvPr>
          <p:cNvSpPr txBox="1"/>
          <p:nvPr/>
        </p:nvSpPr>
        <p:spPr>
          <a:xfrm>
            <a:off x="2117113" y="401079"/>
            <a:ext cx="7451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机器翻译公平性是可信 </a:t>
            </a:r>
            <a:r>
              <a:rPr lang="en-US" altLang="zh-CN"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</a:t>
            </a:r>
            <a:r>
              <a:rPr lang="zh-CN" altLang="en-US"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中的现实问题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60E9AB2-AFD2-2AEB-BC8D-9EB58AF33409}"/>
              </a:ext>
            </a:extLst>
          </p:cNvPr>
          <p:cNvSpPr txBox="1"/>
          <p:nvPr/>
        </p:nvSpPr>
        <p:spPr>
          <a:xfrm>
            <a:off x="2165200" y="1231391"/>
            <a:ext cx="96481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80000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机器翻译已广泛用于</a:t>
            </a:r>
            <a:r>
              <a:rPr lang="zh-CN" altLang="en-US" sz="24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跨语言交流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、</a:t>
            </a:r>
            <a:r>
              <a:rPr lang="zh-CN" altLang="en-US" sz="24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教育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、</a:t>
            </a:r>
            <a:r>
              <a:rPr lang="zh-CN" altLang="en-US" sz="24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新闻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和</a:t>
            </a:r>
            <a:r>
              <a:rPr lang="zh-CN" altLang="en-US" sz="24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平台内容处理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领域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buSzPct val="80000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翻译系统可能在</a:t>
            </a:r>
            <a:r>
              <a:rPr lang="zh-CN" altLang="en-US" sz="24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性别、姓名、职业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等表达上产生不一致结果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buSzPct val="80000"/>
            </a:pPr>
            <a:r>
              <a:rPr lang="zh-CN" altLang="en-US" sz="24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公平性测试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是判断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AI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系统是否可信的重要环节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5A7DE3-F060-4C14-1790-53567914DBD6}"/>
              </a:ext>
            </a:extLst>
          </p:cNvPr>
          <p:cNvSpPr txBox="1"/>
          <p:nvPr/>
        </p:nvSpPr>
        <p:spPr>
          <a:xfrm>
            <a:off x="180672" y="1832383"/>
            <a:ext cx="18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选题背景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E93222D-8FF2-424C-0BD5-93CAEA8793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r="76024"/>
          <a:stretch/>
        </p:blipFill>
        <p:spPr>
          <a:xfrm>
            <a:off x="464221" y="280267"/>
            <a:ext cx="772536" cy="95112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90653FC-41BB-031B-8AD7-650A25CCE6C9}"/>
              </a:ext>
            </a:extLst>
          </p:cNvPr>
          <p:cNvSpPr txBox="1"/>
          <p:nvPr/>
        </p:nvSpPr>
        <p:spPr>
          <a:xfrm>
            <a:off x="2165200" y="2554887"/>
            <a:ext cx="45205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80000"/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因此，机器翻译公平性不仅是语言处理问题，也是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可信 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AI 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评估问题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EBDBEB9-80B7-62C8-EAE8-30E0F068B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996" y="3951076"/>
            <a:ext cx="4601258" cy="258532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676D01D-BCC6-3AB7-AD79-BE570F1B5263}"/>
              </a:ext>
            </a:extLst>
          </p:cNvPr>
          <p:cNvSpPr txBox="1"/>
          <p:nvPr/>
        </p:nvSpPr>
        <p:spPr>
          <a:xfrm>
            <a:off x="180672" y="2832941"/>
            <a:ext cx="18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研究内容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CA1B23-3DBD-EC0D-A7DF-1FD2C96C5C36}"/>
              </a:ext>
            </a:extLst>
          </p:cNvPr>
          <p:cNvSpPr txBox="1"/>
          <p:nvPr/>
        </p:nvSpPr>
        <p:spPr>
          <a:xfrm>
            <a:off x="14205" y="3788202"/>
            <a:ext cx="2102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阶段性成果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03DBBF-8D7A-09D3-0327-21B512152E97}"/>
              </a:ext>
            </a:extLst>
          </p:cNvPr>
          <p:cNvSpPr txBox="1"/>
          <p:nvPr/>
        </p:nvSpPr>
        <p:spPr>
          <a:xfrm>
            <a:off x="0" y="4535634"/>
            <a:ext cx="1804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后续计划与预期成果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4B9727-824A-940E-3FC9-FF66B7EEF646}"/>
              </a:ext>
            </a:extLst>
          </p:cNvPr>
          <p:cNvSpPr/>
          <p:nvPr/>
        </p:nvSpPr>
        <p:spPr>
          <a:xfrm>
            <a:off x="8815899" y="3266789"/>
            <a:ext cx="3464331" cy="504603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43B33316-A624-8351-FC79-D89EAAAB5C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1334" y="3561534"/>
            <a:ext cx="4090931" cy="474782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B6D7340-DE4A-6D64-BFEA-F57B61265A44}"/>
              </a:ext>
            </a:extLst>
          </p:cNvPr>
          <p:cNvCxnSpPr/>
          <p:nvPr/>
        </p:nvCxnSpPr>
        <p:spPr>
          <a:xfrm>
            <a:off x="7259689" y="2785960"/>
            <a:ext cx="80682" cy="5623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990D329-DA69-2DBD-94EF-BB228F0E7F0E}"/>
              </a:ext>
            </a:extLst>
          </p:cNvPr>
          <p:cNvSpPr txBox="1"/>
          <p:nvPr/>
        </p:nvSpPr>
        <p:spPr>
          <a:xfrm>
            <a:off x="7335602" y="2529728"/>
            <a:ext cx="2400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>
                <a:solidFill>
                  <a:schemeClr val="accent2"/>
                </a:solidFill>
              </a:rPr>
              <a:t>基线论文 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74B4F3A-5FAF-5CEA-4E68-397681C1D3A3}"/>
              </a:ext>
            </a:extLst>
          </p:cNvPr>
          <p:cNvSpPr txBox="1"/>
          <p:nvPr/>
        </p:nvSpPr>
        <p:spPr>
          <a:xfrm>
            <a:off x="10219482" y="2915201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学术热点话题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E63F238-FD9F-3DA4-A1B0-1C37A5AFAD37}"/>
              </a:ext>
            </a:extLst>
          </p:cNvPr>
          <p:cNvCxnSpPr/>
          <p:nvPr/>
        </p:nvCxnSpPr>
        <p:spPr>
          <a:xfrm>
            <a:off x="7335602" y="2967970"/>
            <a:ext cx="1387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87B71ED4-7BBF-BA42-D0C1-8C8609E2E919}"/>
              </a:ext>
            </a:extLst>
          </p:cNvPr>
          <p:cNvSpPr txBox="1"/>
          <p:nvPr/>
        </p:nvSpPr>
        <p:spPr>
          <a:xfrm>
            <a:off x="8039774" y="3748273"/>
            <a:ext cx="1557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ACM TOSEM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125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AD982E5-8718-B92C-A56A-E3A8638FCE5F}"/>
              </a:ext>
            </a:extLst>
          </p:cNvPr>
          <p:cNvSpPr/>
          <p:nvPr/>
        </p:nvSpPr>
        <p:spPr>
          <a:xfrm>
            <a:off x="0" y="6480574"/>
            <a:ext cx="12192000" cy="37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82D26B1-3E62-12A4-FB46-D84F7E69AA53}"/>
              </a:ext>
            </a:extLst>
          </p:cNvPr>
          <p:cNvSpPr txBox="1"/>
          <p:nvPr/>
        </p:nvSpPr>
        <p:spPr>
          <a:xfrm>
            <a:off x="2463896" y="3054673"/>
            <a:ext cx="72642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6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研究内容</a:t>
            </a:r>
            <a:endParaRPr kumimoji="1" lang="en-US" altLang="zh-CN" sz="6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F2E442B-3FA7-34AC-9DEE-E302933228E1}"/>
              </a:ext>
            </a:extLst>
          </p:cNvPr>
          <p:cNvSpPr/>
          <p:nvPr/>
        </p:nvSpPr>
        <p:spPr>
          <a:xfrm>
            <a:off x="5656385" y="2182104"/>
            <a:ext cx="879230" cy="8792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9512D53-3A84-73C8-6E98-C228793B24AD}"/>
              </a:ext>
            </a:extLst>
          </p:cNvPr>
          <p:cNvSpPr txBox="1"/>
          <p:nvPr/>
        </p:nvSpPr>
        <p:spPr>
          <a:xfrm>
            <a:off x="5304692" y="2360109"/>
            <a:ext cx="1582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kumimoji="1" lang="zh-CN" altLang="en-US" sz="2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CC45738-BC65-8BF8-FF41-5D7D0E9C9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0140" y="349617"/>
            <a:ext cx="1777041" cy="52454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02E7A48-9497-A246-E319-49C987C2FB37}"/>
              </a:ext>
            </a:extLst>
          </p:cNvPr>
          <p:cNvSpPr txBox="1"/>
          <p:nvPr/>
        </p:nvSpPr>
        <p:spPr>
          <a:xfrm>
            <a:off x="3047999" y="406367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改进机器翻译公平性测试方法</a:t>
            </a:r>
          </a:p>
        </p:txBody>
      </p:sp>
    </p:spTree>
    <p:extLst>
      <p:ext uri="{BB962C8B-B14F-4D97-AF65-F5344CB8AC3E}">
        <p14:creationId xmlns:p14="http://schemas.microsoft.com/office/powerpoint/2010/main" val="3047681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E6B3E1C-B408-70B1-2131-B81BA2FD3641}"/>
              </a:ext>
            </a:extLst>
          </p:cNvPr>
          <p:cNvSpPr/>
          <p:nvPr/>
        </p:nvSpPr>
        <p:spPr>
          <a:xfrm>
            <a:off x="0" y="0"/>
            <a:ext cx="17009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4EFF4A-F6EB-F552-3E2A-901C24015424}"/>
              </a:ext>
            </a:extLst>
          </p:cNvPr>
          <p:cNvSpPr/>
          <p:nvPr/>
        </p:nvSpPr>
        <p:spPr>
          <a:xfrm>
            <a:off x="0" y="2705289"/>
            <a:ext cx="1700979" cy="723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31A691FB-E1D5-3AC0-D43E-458D684A5013}"/>
              </a:ext>
            </a:extLst>
          </p:cNvPr>
          <p:cNvCxnSpPr>
            <a:cxnSpLocks/>
          </p:cNvCxnSpPr>
          <p:nvPr/>
        </p:nvCxnSpPr>
        <p:spPr>
          <a:xfrm>
            <a:off x="2117114" y="1010994"/>
            <a:ext cx="9536170" cy="0"/>
          </a:xfrm>
          <a:prstGeom prst="line">
            <a:avLst/>
          </a:prstGeom>
          <a:ln w="12700">
            <a:solidFill>
              <a:schemeClr val="accent1">
                <a:alpha val="2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60C835F-4044-AA2A-8EB3-C13F24BD676C}"/>
              </a:ext>
            </a:extLst>
          </p:cNvPr>
          <p:cNvSpPr txBox="1"/>
          <p:nvPr/>
        </p:nvSpPr>
        <p:spPr>
          <a:xfrm>
            <a:off x="2117113" y="39184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从“检测模型偏见”到“改进测试方法”</a:t>
            </a:r>
            <a:endParaRPr lang="en" altLang="zh-CN" sz="28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71DDB9F-88E3-17DA-CA40-EA5390E96E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r="76024"/>
          <a:stretch/>
        </p:blipFill>
        <p:spPr>
          <a:xfrm>
            <a:off x="464221" y="280267"/>
            <a:ext cx="772536" cy="95112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DD957F5-321D-2897-D8A5-AA3380D764F3}"/>
              </a:ext>
            </a:extLst>
          </p:cNvPr>
          <p:cNvSpPr txBox="1"/>
          <p:nvPr/>
        </p:nvSpPr>
        <p:spPr>
          <a:xfrm>
            <a:off x="2117113" y="1133356"/>
            <a:ext cx="986396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2400" dirty="0"/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我们的项目进一步追问：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当前用来判断偏见的公平性测试方法</a:t>
            </a:r>
            <a:r>
              <a:rPr lang="zh-CN" altLang="en-US" sz="24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本身</a:t>
            </a:r>
            <a:r>
              <a:rPr lang="zh-CN" altLang="en-US" sz="24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是否可靠？</a:t>
            </a:r>
            <a:endParaRPr lang="en-US" altLang="zh-CN" sz="24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400" dirty="0">
              <a:solidFill>
                <a:schemeClr val="accent1"/>
              </a:solidFill>
            </a:endParaRPr>
          </a:p>
          <a:p>
            <a:endParaRPr lang="en-US" altLang="zh-CN" dirty="0"/>
          </a:p>
          <a:p>
            <a:endParaRPr lang="en-US" altLang="zh-CN" dirty="0"/>
          </a:p>
          <a:p>
            <a:pPr algn="ctr"/>
            <a:r>
              <a:rPr lang="zh-CN" altLang="en-US" sz="2400" dirty="0">
                <a:solidFill>
                  <a:schemeClr val="accent1"/>
                </a:solidFill>
              </a:rPr>
              <a:t>关键前提：</a:t>
            </a:r>
            <a:r>
              <a:rPr lang="zh-CN" altLang="en-US" sz="2400" dirty="0">
                <a:solidFill>
                  <a:srgbClr val="FF0000"/>
                </a:solidFill>
              </a:rPr>
              <a:t>替换敏感属性</a:t>
            </a:r>
            <a:r>
              <a:rPr lang="zh-CN" altLang="en-US" sz="2400" dirty="0">
                <a:solidFill>
                  <a:schemeClr val="accent1"/>
                </a:solidFill>
              </a:rPr>
              <a:t>不会导致其他语义的变化。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endParaRPr lang="en-US" altLang="zh-CN" sz="2400" dirty="0">
              <a:solidFill>
                <a:schemeClr val="accent1"/>
              </a:solidFill>
            </a:endParaRPr>
          </a:p>
          <a:p>
            <a:endParaRPr lang="zh-CN" altLang="en-US" sz="2400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9C01E00-D751-5E96-B297-2AE7B1A94C56}"/>
              </a:ext>
            </a:extLst>
          </p:cNvPr>
          <p:cNvSpPr/>
          <p:nvPr/>
        </p:nvSpPr>
        <p:spPr>
          <a:xfrm>
            <a:off x="2095711" y="2680947"/>
            <a:ext cx="2842814" cy="36117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text替换敏感属性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BFC3844-535C-D453-6CBC-D7C0989D4226}"/>
              </a:ext>
            </a:extLst>
          </p:cNvPr>
          <p:cNvSpPr/>
          <p:nvPr/>
        </p:nvSpPr>
        <p:spPr>
          <a:xfrm>
            <a:off x="5525517" y="2680945"/>
            <a:ext cx="2842814" cy="36117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比较翻译输出差异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50BC16D-6C5B-EDBF-9BA6-ECB200DE5C58}"/>
              </a:ext>
            </a:extLst>
          </p:cNvPr>
          <p:cNvSpPr/>
          <p:nvPr/>
        </p:nvSpPr>
        <p:spPr>
          <a:xfrm>
            <a:off x="8885759" y="2680945"/>
            <a:ext cx="2842814" cy="36117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判断是否存在偏见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C1CFBC0-5DB9-97FC-F8DC-4736435A0D8C}"/>
              </a:ext>
            </a:extLst>
          </p:cNvPr>
          <p:cNvSpPr/>
          <p:nvPr/>
        </p:nvSpPr>
        <p:spPr>
          <a:xfrm>
            <a:off x="1992125" y="2492205"/>
            <a:ext cx="9863963" cy="1284929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9DCBEC6B-43F0-3092-08BC-A10FAD297C42}"/>
              </a:ext>
            </a:extLst>
          </p:cNvPr>
          <p:cNvSpPr/>
          <p:nvPr/>
        </p:nvSpPr>
        <p:spPr>
          <a:xfrm>
            <a:off x="5116945" y="2783025"/>
            <a:ext cx="237714" cy="15701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9BF030B1-0B16-2289-10E1-FA90867B69D9}"/>
              </a:ext>
            </a:extLst>
          </p:cNvPr>
          <p:cNvSpPr/>
          <p:nvPr/>
        </p:nvSpPr>
        <p:spPr>
          <a:xfrm>
            <a:off x="8546751" y="2783025"/>
            <a:ext cx="237714" cy="15701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22F0B44-0E34-8FE5-A89E-D8D545807317}"/>
              </a:ext>
            </a:extLst>
          </p:cNvPr>
          <p:cNvSpPr txBox="1"/>
          <p:nvPr/>
        </p:nvSpPr>
        <p:spPr>
          <a:xfrm>
            <a:off x="0" y="3846431"/>
            <a:ext cx="2102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阶段性成果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B4FC67C-8965-7C3B-82F6-A2D2E8D79FC1}"/>
              </a:ext>
            </a:extLst>
          </p:cNvPr>
          <p:cNvSpPr txBox="1"/>
          <p:nvPr/>
        </p:nvSpPr>
        <p:spPr>
          <a:xfrm>
            <a:off x="29517" y="5049788"/>
            <a:ext cx="1804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后续计划与预期成果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F6275F-71FD-2C3D-E27A-B59B1A2EBA28}"/>
              </a:ext>
            </a:extLst>
          </p:cNvPr>
          <p:cNvSpPr txBox="1"/>
          <p:nvPr/>
        </p:nvSpPr>
        <p:spPr>
          <a:xfrm>
            <a:off x="180672" y="1832383"/>
            <a:ext cx="18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选题背景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5F8515-2AC2-05BE-60D2-23B704532927}"/>
              </a:ext>
            </a:extLst>
          </p:cNvPr>
          <p:cNvSpPr txBox="1"/>
          <p:nvPr/>
        </p:nvSpPr>
        <p:spPr>
          <a:xfrm>
            <a:off x="180672" y="2832941"/>
            <a:ext cx="18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研究内容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8BB1CF-44E9-0AEA-05AD-AED1A4177F49}"/>
              </a:ext>
            </a:extLst>
          </p:cNvPr>
          <p:cNvSpPr txBox="1"/>
          <p:nvPr/>
        </p:nvSpPr>
        <p:spPr>
          <a:xfrm>
            <a:off x="3517118" y="4080292"/>
            <a:ext cx="614019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24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核心改进：</a:t>
            </a:r>
            <a:endParaRPr lang="en-US" altLang="zh-CN" sz="24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输入变体之间是否真的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只改变了敏感属性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？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输出差异是否</a:t>
            </a:r>
            <a:r>
              <a:rPr lang="zh-CN" altLang="en-US" sz="24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一定能说明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模型偏见？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如何让公平性测试结论</a:t>
            </a:r>
            <a:r>
              <a:rPr lang="zh-CN" altLang="en-US" sz="24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更加稳健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？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8365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AD982E5-8718-B92C-A56A-E3A8638FCE5F}"/>
              </a:ext>
            </a:extLst>
          </p:cNvPr>
          <p:cNvSpPr/>
          <p:nvPr/>
        </p:nvSpPr>
        <p:spPr>
          <a:xfrm>
            <a:off x="0" y="6480574"/>
            <a:ext cx="12192000" cy="37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F2E442B-3FA7-34AC-9DEE-E302933228E1}"/>
              </a:ext>
            </a:extLst>
          </p:cNvPr>
          <p:cNvSpPr/>
          <p:nvPr/>
        </p:nvSpPr>
        <p:spPr>
          <a:xfrm>
            <a:off x="5656385" y="2182104"/>
            <a:ext cx="879230" cy="8792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9512D53-3A84-73C8-6E98-C228793B24AD}"/>
              </a:ext>
            </a:extLst>
          </p:cNvPr>
          <p:cNvSpPr txBox="1"/>
          <p:nvPr/>
        </p:nvSpPr>
        <p:spPr>
          <a:xfrm>
            <a:off x="5304692" y="2360109"/>
            <a:ext cx="1582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kumimoji="1" lang="zh-CN" altLang="en-US" sz="2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B34D0AE-486B-41B0-0F2D-EC0E7AB82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0140" y="349617"/>
            <a:ext cx="1777041" cy="52454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89BF008-953C-ED25-307D-6D975B996681}"/>
              </a:ext>
            </a:extLst>
          </p:cNvPr>
          <p:cNvSpPr txBox="1"/>
          <p:nvPr/>
        </p:nvSpPr>
        <p:spPr>
          <a:xfrm>
            <a:off x="2463896" y="3054673"/>
            <a:ext cx="72642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6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阶段性成果</a:t>
            </a:r>
            <a:endParaRPr kumimoji="1" lang="en-US" altLang="zh-CN" sz="6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D1DF3D-7D86-8DCF-C7A5-36033F3AB6DF}"/>
              </a:ext>
            </a:extLst>
          </p:cNvPr>
          <p:cNvSpPr txBox="1"/>
          <p:nvPr/>
        </p:nvSpPr>
        <p:spPr>
          <a:xfrm>
            <a:off x="3047999" y="406367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从验证旧方法到提出新方案</a:t>
            </a:r>
          </a:p>
        </p:txBody>
      </p:sp>
    </p:spTree>
    <p:extLst>
      <p:ext uri="{BB962C8B-B14F-4D97-AF65-F5344CB8AC3E}">
        <p14:creationId xmlns:p14="http://schemas.microsoft.com/office/powerpoint/2010/main" val="2621267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AE793D4-6E6C-2A9F-B8A8-D624B60AEAEC}"/>
              </a:ext>
            </a:extLst>
          </p:cNvPr>
          <p:cNvSpPr/>
          <p:nvPr/>
        </p:nvSpPr>
        <p:spPr>
          <a:xfrm>
            <a:off x="6165669" y="1222027"/>
            <a:ext cx="5219047" cy="4538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6B3E1C-B408-70B1-2131-B81BA2FD3641}"/>
              </a:ext>
            </a:extLst>
          </p:cNvPr>
          <p:cNvSpPr/>
          <p:nvPr/>
        </p:nvSpPr>
        <p:spPr>
          <a:xfrm>
            <a:off x="0" y="0"/>
            <a:ext cx="17009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4EFF4A-F6EB-F552-3E2A-901C24015424}"/>
              </a:ext>
            </a:extLst>
          </p:cNvPr>
          <p:cNvSpPr/>
          <p:nvPr/>
        </p:nvSpPr>
        <p:spPr>
          <a:xfrm>
            <a:off x="0" y="3597028"/>
            <a:ext cx="1700979" cy="931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31A691FB-E1D5-3AC0-D43E-458D684A5013}"/>
              </a:ext>
            </a:extLst>
          </p:cNvPr>
          <p:cNvCxnSpPr>
            <a:cxnSpLocks/>
          </p:cNvCxnSpPr>
          <p:nvPr/>
        </p:nvCxnSpPr>
        <p:spPr>
          <a:xfrm>
            <a:off x="2117114" y="1010994"/>
            <a:ext cx="9536170" cy="0"/>
          </a:xfrm>
          <a:prstGeom prst="line">
            <a:avLst/>
          </a:prstGeom>
          <a:ln w="12700">
            <a:solidFill>
              <a:schemeClr val="accent1">
                <a:alpha val="2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60C835F-4044-AA2A-8EB3-C13F24BD676C}"/>
              </a:ext>
            </a:extLst>
          </p:cNvPr>
          <p:cNvSpPr txBox="1"/>
          <p:nvPr/>
        </p:nvSpPr>
        <p:spPr>
          <a:xfrm>
            <a:off x="2117112" y="401079"/>
            <a:ext cx="8398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我们的进展</a:t>
            </a:r>
            <a:endParaRPr lang="en" altLang="zh-CN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15A7774-4D90-BEE3-21A9-516CC442BFA6}"/>
              </a:ext>
            </a:extLst>
          </p:cNvPr>
          <p:cNvSpPr txBox="1"/>
          <p:nvPr/>
        </p:nvSpPr>
        <p:spPr>
          <a:xfrm>
            <a:off x="2695961" y="6060338"/>
            <a:ext cx="8688755" cy="39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" altLang="zh-CN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Personal gains: communication and guidance ability + leadership ability</a:t>
            </a:r>
            <a:endParaRPr lang="zh-CN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5896218-B7F8-932B-310A-738CA500FC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r="76024"/>
          <a:stretch/>
        </p:blipFill>
        <p:spPr>
          <a:xfrm>
            <a:off x="464221" y="280267"/>
            <a:ext cx="772536" cy="95112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45B3406-1B6B-86B8-D931-BA79711CFBDE}"/>
              </a:ext>
            </a:extLst>
          </p:cNvPr>
          <p:cNvSpPr txBox="1"/>
          <p:nvPr/>
        </p:nvSpPr>
        <p:spPr>
          <a:xfrm>
            <a:off x="0" y="3846431"/>
            <a:ext cx="2102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阶段性成果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169336-CEC5-53D3-A3DC-0A24F54CC201}"/>
              </a:ext>
            </a:extLst>
          </p:cNvPr>
          <p:cNvSpPr txBox="1"/>
          <p:nvPr/>
        </p:nvSpPr>
        <p:spPr>
          <a:xfrm>
            <a:off x="3359277" y="5847006"/>
            <a:ext cx="75109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已形成持续推进的研究路径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2B347E2-208D-120C-0B5B-E0EA23B576E1}"/>
              </a:ext>
            </a:extLst>
          </p:cNvPr>
          <p:cNvSpPr txBox="1"/>
          <p:nvPr/>
        </p:nvSpPr>
        <p:spPr>
          <a:xfrm>
            <a:off x="1938279" y="2011593"/>
            <a:ext cx="4395652" cy="2722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SzPct val="80000"/>
            </a:pPr>
            <a:r>
              <a:rPr lang="zh-CN" altLang="en-US" sz="2400" dirty="0"/>
              <a:t>√对于现有方法的质疑和验证</a:t>
            </a:r>
            <a:endParaRPr lang="en-US" altLang="zh-CN" sz="2400" dirty="0"/>
          </a:p>
          <a:p>
            <a:pPr>
              <a:lnSpc>
                <a:spcPct val="120000"/>
              </a:lnSpc>
              <a:buSzPct val="80000"/>
            </a:pPr>
            <a:r>
              <a:rPr lang="zh-CN" altLang="en-US" sz="2400" dirty="0"/>
              <a:t>√基于质疑的测试集优化</a:t>
            </a:r>
            <a:endParaRPr lang="en-US" altLang="zh-CN" sz="2400" dirty="0"/>
          </a:p>
          <a:p>
            <a:pPr>
              <a:lnSpc>
                <a:spcPct val="120000"/>
              </a:lnSpc>
              <a:buSzPct val="80000"/>
            </a:pPr>
            <a:r>
              <a:rPr lang="zh-CN" altLang="en-US" sz="2400" dirty="0"/>
              <a:t>√新测试集的生成方法固化</a:t>
            </a:r>
            <a:endParaRPr lang="en-US" altLang="zh-CN" sz="2400" dirty="0"/>
          </a:p>
          <a:p>
            <a:pPr>
              <a:lnSpc>
                <a:spcPct val="120000"/>
              </a:lnSpc>
              <a:buSzPct val="80000"/>
            </a:pPr>
            <a:r>
              <a:rPr lang="zh-CN" altLang="en-US" sz="2400" dirty="0"/>
              <a:t>√分析方法与指标的创新</a:t>
            </a:r>
            <a:endParaRPr lang="en-US" altLang="zh-CN" sz="2400" dirty="0"/>
          </a:p>
          <a:p>
            <a:pPr>
              <a:lnSpc>
                <a:spcPct val="120000"/>
              </a:lnSpc>
              <a:buSzPct val="80000"/>
            </a:pPr>
            <a:r>
              <a:rPr lang="zh-CN" altLang="en-US" sz="2400" dirty="0"/>
              <a:t>√指标应用</a:t>
            </a:r>
            <a:endParaRPr lang="en-US" altLang="zh-CN" sz="2400" dirty="0"/>
          </a:p>
          <a:p>
            <a:pPr>
              <a:lnSpc>
                <a:spcPct val="120000"/>
              </a:lnSpc>
              <a:buSzPct val="80000"/>
            </a:pPr>
            <a:r>
              <a:rPr lang="zh-CN" altLang="en-US" sz="2400" dirty="0"/>
              <a:t>√基于测试工具雏形</a:t>
            </a:r>
            <a:endParaRPr lang="en-US" altLang="zh-CN" sz="2400" dirty="0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2C1A58EE-0F56-6664-36B8-CD6B0A2A7E61}"/>
              </a:ext>
            </a:extLst>
          </p:cNvPr>
          <p:cNvSpPr/>
          <p:nvPr/>
        </p:nvSpPr>
        <p:spPr>
          <a:xfrm>
            <a:off x="7470827" y="3165625"/>
            <a:ext cx="3100390" cy="2633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数据组织和编号体系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7351F1A0-9C7E-55CD-5D61-44786F079C33}"/>
              </a:ext>
            </a:extLst>
          </p:cNvPr>
          <p:cNvSpPr/>
          <p:nvPr/>
        </p:nvSpPr>
        <p:spPr>
          <a:xfrm>
            <a:off x="6573633" y="3658130"/>
            <a:ext cx="3100390" cy="2633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多类测试样本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D676E67F-8082-F1E0-2705-52D8555B9267}"/>
              </a:ext>
            </a:extLst>
          </p:cNvPr>
          <p:cNvSpPr/>
          <p:nvPr/>
        </p:nvSpPr>
        <p:spPr>
          <a:xfrm>
            <a:off x="7470826" y="4147645"/>
            <a:ext cx="3360143" cy="2633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输入</a:t>
            </a:r>
            <a:r>
              <a:rPr lang="en-US" altLang="zh-CN" sz="2400" b="1" dirty="0">
                <a:solidFill>
                  <a:schemeClr val="tx1"/>
                </a:solidFill>
              </a:rPr>
              <a:t>-</a:t>
            </a:r>
            <a:r>
              <a:rPr lang="zh-CN" altLang="en-US" sz="2400" b="1" dirty="0">
                <a:solidFill>
                  <a:schemeClr val="tx1"/>
                </a:solidFill>
              </a:rPr>
              <a:t>输出配对结果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DA683748-F3AA-97AF-5F45-B9B44B4BE4C9}"/>
              </a:ext>
            </a:extLst>
          </p:cNvPr>
          <p:cNvSpPr/>
          <p:nvPr/>
        </p:nvSpPr>
        <p:spPr>
          <a:xfrm>
            <a:off x="6573632" y="4675659"/>
            <a:ext cx="3628347" cy="30421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输入侧与输入侧变化指标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927AF50-C46C-D649-4DCA-54667ACE326B}"/>
              </a:ext>
            </a:extLst>
          </p:cNvPr>
          <p:cNvSpPr/>
          <p:nvPr/>
        </p:nvSpPr>
        <p:spPr>
          <a:xfrm>
            <a:off x="7551919" y="5254540"/>
            <a:ext cx="3360143" cy="2633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阶段性图表和分析结果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C63D2A4-1FC0-294F-4D0B-2FB2F69E12B1}"/>
              </a:ext>
            </a:extLst>
          </p:cNvPr>
          <p:cNvSpPr txBox="1"/>
          <p:nvPr/>
        </p:nvSpPr>
        <p:spPr>
          <a:xfrm>
            <a:off x="29517" y="5049788"/>
            <a:ext cx="1804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后续计划与预期成果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BCF6FC-A293-71BD-6F0E-520D72F7D8AC}"/>
              </a:ext>
            </a:extLst>
          </p:cNvPr>
          <p:cNvSpPr txBox="1"/>
          <p:nvPr/>
        </p:nvSpPr>
        <p:spPr>
          <a:xfrm>
            <a:off x="180672" y="1832383"/>
            <a:ext cx="18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选题背景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A3C719-FFFC-C202-D951-AAC434A651AF}"/>
              </a:ext>
            </a:extLst>
          </p:cNvPr>
          <p:cNvSpPr txBox="1"/>
          <p:nvPr/>
        </p:nvSpPr>
        <p:spPr>
          <a:xfrm>
            <a:off x="180672" y="2832941"/>
            <a:ext cx="18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研究内容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572BCE-0EC0-5ED1-5BAC-9F33A03763D7}"/>
              </a:ext>
            </a:extLst>
          </p:cNvPr>
          <p:cNvSpPr txBox="1"/>
          <p:nvPr/>
        </p:nvSpPr>
        <p:spPr>
          <a:xfrm>
            <a:off x="1938279" y="1306286"/>
            <a:ext cx="28911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成果总览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E692C22-EC62-CD64-A71C-185F0DE60B48}"/>
              </a:ext>
            </a:extLst>
          </p:cNvPr>
          <p:cNvSpPr txBox="1"/>
          <p:nvPr/>
        </p:nvSpPr>
        <p:spPr>
          <a:xfrm>
            <a:off x="6871063" y="1522979"/>
            <a:ext cx="3954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这里补一个</a:t>
            </a:r>
            <a:br>
              <a:rPr lang="en-US" altLang="zh-CN" b="1" dirty="0">
                <a:solidFill>
                  <a:srgbClr val="FF0000"/>
                </a:solidFill>
              </a:rPr>
            </a:br>
            <a:r>
              <a:rPr lang="zh-CN" altLang="en-US" b="1" dirty="0">
                <a:solidFill>
                  <a:srgbClr val="FF0000"/>
                </a:solidFill>
              </a:rPr>
              <a:t>“验证质疑</a:t>
            </a:r>
            <a:r>
              <a:rPr lang="en-US" altLang="zh-CN" b="1" dirty="0">
                <a:solidFill>
                  <a:srgbClr val="FF0000"/>
                </a:solidFill>
              </a:rPr>
              <a:t>-》</a:t>
            </a:r>
            <a:r>
              <a:rPr lang="zh-CN" altLang="en-US" b="1" dirty="0">
                <a:solidFill>
                  <a:srgbClr val="FF0000"/>
                </a:solidFill>
              </a:rPr>
              <a:t>优化方法</a:t>
            </a:r>
            <a:r>
              <a:rPr lang="en-US" altLang="zh-CN" b="1" dirty="0">
                <a:solidFill>
                  <a:srgbClr val="FF0000"/>
                </a:solidFill>
              </a:rPr>
              <a:t>-》</a:t>
            </a:r>
            <a:r>
              <a:rPr lang="zh-CN" altLang="en-US" b="1" dirty="0">
                <a:solidFill>
                  <a:srgbClr val="FF0000"/>
                </a:solidFill>
              </a:rPr>
              <a:t>改进指标”的图，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如果你能想到更好词请替换</a:t>
            </a:r>
          </a:p>
        </p:txBody>
      </p:sp>
    </p:spTree>
    <p:extLst>
      <p:ext uri="{BB962C8B-B14F-4D97-AF65-F5344CB8AC3E}">
        <p14:creationId xmlns:p14="http://schemas.microsoft.com/office/powerpoint/2010/main" val="2401222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E6B3E1C-B408-70B1-2131-B81BA2FD3641}"/>
              </a:ext>
            </a:extLst>
          </p:cNvPr>
          <p:cNvSpPr/>
          <p:nvPr/>
        </p:nvSpPr>
        <p:spPr>
          <a:xfrm>
            <a:off x="0" y="0"/>
            <a:ext cx="17009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4EFF4A-F6EB-F552-3E2A-901C24015424}"/>
              </a:ext>
            </a:extLst>
          </p:cNvPr>
          <p:cNvSpPr/>
          <p:nvPr/>
        </p:nvSpPr>
        <p:spPr>
          <a:xfrm>
            <a:off x="0" y="3597028"/>
            <a:ext cx="1700979" cy="931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31A691FB-E1D5-3AC0-D43E-458D684A5013}"/>
              </a:ext>
            </a:extLst>
          </p:cNvPr>
          <p:cNvCxnSpPr>
            <a:cxnSpLocks/>
          </p:cNvCxnSpPr>
          <p:nvPr/>
        </p:nvCxnSpPr>
        <p:spPr>
          <a:xfrm>
            <a:off x="2117114" y="1010994"/>
            <a:ext cx="9536170" cy="0"/>
          </a:xfrm>
          <a:prstGeom prst="line">
            <a:avLst/>
          </a:prstGeom>
          <a:ln w="12700">
            <a:solidFill>
              <a:schemeClr val="accent1">
                <a:alpha val="2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60C835F-4044-AA2A-8EB3-C13F24BD676C}"/>
              </a:ext>
            </a:extLst>
          </p:cNvPr>
          <p:cNvSpPr txBox="1"/>
          <p:nvPr/>
        </p:nvSpPr>
        <p:spPr>
          <a:xfrm>
            <a:off x="2117112" y="401079"/>
            <a:ext cx="8398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验证质疑：对于现有方法的质疑和验证</a:t>
            </a:r>
            <a:endParaRPr lang="en" altLang="zh-CN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30ABD1F-87EA-8EFF-DFC5-A35538A5EB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r="76024"/>
          <a:stretch/>
        </p:blipFill>
        <p:spPr>
          <a:xfrm>
            <a:off x="464221" y="280267"/>
            <a:ext cx="772536" cy="95112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CC06AB2-1F40-2EC4-815F-ECD41B2B4A7B}"/>
              </a:ext>
            </a:extLst>
          </p:cNvPr>
          <p:cNvSpPr txBox="1"/>
          <p:nvPr/>
        </p:nvSpPr>
        <p:spPr>
          <a:xfrm>
            <a:off x="2102908" y="1498980"/>
            <a:ext cx="62358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验证了现有方法中的两个关键风险：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8818BE8-677E-1B96-4411-6F1366E55E4A}"/>
              </a:ext>
            </a:extLst>
          </p:cNvPr>
          <p:cNvSpPr txBox="1"/>
          <p:nvPr/>
        </p:nvSpPr>
        <p:spPr>
          <a:xfrm>
            <a:off x="0" y="3846431"/>
            <a:ext cx="2102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阶段性成果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CEF0C75-D064-8FE5-33E3-6DE65FB245BE}"/>
              </a:ext>
            </a:extLst>
          </p:cNvPr>
          <p:cNvSpPr txBox="1"/>
          <p:nvPr/>
        </p:nvSpPr>
        <p:spPr>
          <a:xfrm>
            <a:off x="29517" y="5049788"/>
            <a:ext cx="1804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后续计划与预期成果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5140299-AC15-8342-9AC6-1F3F208BFDF8}"/>
              </a:ext>
            </a:extLst>
          </p:cNvPr>
          <p:cNvSpPr txBox="1"/>
          <p:nvPr/>
        </p:nvSpPr>
        <p:spPr>
          <a:xfrm>
            <a:off x="1891967" y="5847006"/>
            <a:ext cx="9413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只有在</a:t>
            </a:r>
            <a:r>
              <a:rPr lang="zh-CN" altLang="en-US" sz="2400" dirty="0">
                <a:solidFill>
                  <a:schemeClr val="accent1"/>
                </a:solidFill>
              </a:rPr>
              <a:t>输入变化</a:t>
            </a:r>
            <a:r>
              <a:rPr lang="zh-CN" altLang="en-US" sz="2400" dirty="0"/>
              <a:t>得到</a:t>
            </a:r>
            <a:r>
              <a:rPr lang="zh-CN" altLang="en-US" sz="2400" dirty="0">
                <a:solidFill>
                  <a:schemeClr val="accent1"/>
                </a:solidFill>
              </a:rPr>
              <a:t>度量和控制</a:t>
            </a:r>
            <a:r>
              <a:rPr lang="zh-CN" altLang="en-US" sz="2400" dirty="0"/>
              <a:t>后，输出差异才更有解释力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2B1FCA6B-F90C-BA8B-A8E5-E2E53CBE2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493143"/>
              </p:ext>
            </p:extLst>
          </p:nvPr>
        </p:nvGraphicFramePr>
        <p:xfrm>
          <a:off x="1972765" y="2168434"/>
          <a:ext cx="3949217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1810">
                  <a:extLst>
                    <a:ext uri="{9D8B030D-6E8A-4147-A177-3AD203B41FA5}">
                      <a16:colId xmlns:a16="http://schemas.microsoft.com/office/drawing/2014/main" val="625835159"/>
                    </a:ext>
                  </a:extLst>
                </a:gridCol>
                <a:gridCol w="2707407">
                  <a:extLst>
                    <a:ext uri="{9D8B030D-6E8A-4147-A177-3AD203B41FA5}">
                      <a16:colId xmlns:a16="http://schemas.microsoft.com/office/drawing/2014/main" val="3139465638"/>
                    </a:ext>
                  </a:extLst>
                </a:gridCol>
              </a:tblGrid>
              <a:tr h="9037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对照组质量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现有组并不能稳定充当“自然语义变化”的可比基线，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因此直接用它解释公平性差异存在风险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964411"/>
                  </a:ext>
                </a:extLst>
              </a:tr>
              <a:tr h="15433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指标设计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如果只看翻译输出变化 ，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而不看输入本身变化 ，就可能把输入差异造成的输出变化</a:t>
                      </a:r>
                      <a:r>
                        <a:rPr lang="zh-CN" altLang="en-US" sz="2400" b="1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误判</a:t>
                      </a: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为模型偏见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000363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EBDCD4C8-71DB-4A52-CB0E-A44C9AD2136A}"/>
              </a:ext>
            </a:extLst>
          </p:cNvPr>
          <p:cNvSpPr txBox="1"/>
          <p:nvPr/>
        </p:nvSpPr>
        <p:spPr>
          <a:xfrm>
            <a:off x="180672" y="1832383"/>
            <a:ext cx="18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选题背景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9C4193-F65A-D94A-3069-1ADF6EB7D6D9}"/>
              </a:ext>
            </a:extLst>
          </p:cNvPr>
          <p:cNvSpPr txBox="1"/>
          <p:nvPr/>
        </p:nvSpPr>
        <p:spPr>
          <a:xfrm>
            <a:off x="180672" y="2832941"/>
            <a:ext cx="18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研究内容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92BCC52-4573-5929-BBD3-B4D005EBB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220" y="1135670"/>
            <a:ext cx="4856839" cy="471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952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C5361-6680-3B9A-B03D-2540A901A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DAB1F33-44EE-4A07-6008-A217EC8BB7AF}"/>
              </a:ext>
            </a:extLst>
          </p:cNvPr>
          <p:cNvSpPr/>
          <p:nvPr/>
        </p:nvSpPr>
        <p:spPr>
          <a:xfrm>
            <a:off x="0" y="0"/>
            <a:ext cx="17009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7FC1F6-7D84-DD80-1D4A-4AD080334D09}"/>
              </a:ext>
            </a:extLst>
          </p:cNvPr>
          <p:cNvSpPr/>
          <p:nvPr/>
        </p:nvSpPr>
        <p:spPr>
          <a:xfrm>
            <a:off x="0" y="3597028"/>
            <a:ext cx="1700979" cy="931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404A8342-00DB-D8CB-D38C-8B9E9CF0F210}"/>
              </a:ext>
            </a:extLst>
          </p:cNvPr>
          <p:cNvCxnSpPr>
            <a:cxnSpLocks/>
          </p:cNvCxnSpPr>
          <p:nvPr/>
        </p:nvCxnSpPr>
        <p:spPr>
          <a:xfrm>
            <a:off x="2117114" y="1010994"/>
            <a:ext cx="9536170" cy="0"/>
          </a:xfrm>
          <a:prstGeom prst="line">
            <a:avLst/>
          </a:prstGeom>
          <a:ln w="12700">
            <a:solidFill>
              <a:schemeClr val="accent1">
                <a:alpha val="2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ACA485B-FB5E-A56C-E376-F0E7DA69AB2B}"/>
              </a:ext>
            </a:extLst>
          </p:cNvPr>
          <p:cNvSpPr txBox="1"/>
          <p:nvPr/>
        </p:nvSpPr>
        <p:spPr>
          <a:xfrm>
            <a:off x="2117112" y="401079"/>
            <a:ext cx="8398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优化方法：设计并验证新的对照方法</a:t>
            </a:r>
            <a:endParaRPr lang="en" altLang="zh-CN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4D9226D-4F14-6F03-46BC-CEDB894772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r="76024"/>
          <a:stretch/>
        </p:blipFill>
        <p:spPr>
          <a:xfrm>
            <a:off x="464221" y="280267"/>
            <a:ext cx="772536" cy="95112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FE4BA17-B533-634A-75C3-7F2F01218735}"/>
              </a:ext>
            </a:extLst>
          </p:cNvPr>
          <p:cNvSpPr txBox="1"/>
          <p:nvPr/>
        </p:nvSpPr>
        <p:spPr>
          <a:xfrm>
            <a:off x="2044488" y="1280558"/>
            <a:ext cx="80757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针对原有对照组质量低的问题，我们设计了新的测试集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1E75500-E37B-E52B-B0BD-366D0B7D89A9}"/>
              </a:ext>
            </a:extLst>
          </p:cNvPr>
          <p:cNvSpPr txBox="1"/>
          <p:nvPr/>
        </p:nvSpPr>
        <p:spPr>
          <a:xfrm>
            <a:off x="6793902" y="2033527"/>
            <a:ext cx="4267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有真实图表：</a:t>
            </a:r>
            <a:r>
              <a:rPr lang="en-US" altLang="zh-CN" dirty="0">
                <a:solidFill>
                  <a:srgbClr val="FF0000"/>
                </a:solidFill>
              </a:rPr>
              <a:t>- </a:t>
            </a:r>
            <a:r>
              <a:rPr lang="zh-CN" altLang="en-US" dirty="0">
                <a:solidFill>
                  <a:srgbClr val="FF0000"/>
                </a:solidFill>
              </a:rPr>
              <a:t>放 </a:t>
            </a:r>
            <a:r>
              <a:rPr lang="en-US" altLang="zh-CN" dirty="0">
                <a:solidFill>
                  <a:srgbClr val="FF0000"/>
                </a:solidFill>
              </a:rPr>
              <a:t>Nc </a:t>
            </a:r>
            <a:r>
              <a:rPr lang="zh-CN" altLang="en-US" dirty="0">
                <a:solidFill>
                  <a:srgbClr val="FF0000"/>
                </a:solidFill>
              </a:rPr>
              <a:t>与 </a:t>
            </a:r>
            <a:r>
              <a:rPr lang="en-US" altLang="zh-CN" dirty="0">
                <a:solidFill>
                  <a:srgbClr val="FF0000"/>
                </a:solidFill>
              </a:rPr>
              <a:t>Nu </a:t>
            </a:r>
            <a:r>
              <a:rPr lang="zh-CN" altLang="en-US" dirty="0">
                <a:solidFill>
                  <a:srgbClr val="FF0000"/>
                </a:solidFill>
              </a:rPr>
              <a:t>的对比分布图；</a:t>
            </a:r>
            <a:r>
              <a:rPr lang="en-US" altLang="zh-CN" dirty="0">
                <a:solidFill>
                  <a:srgbClr val="FF0000"/>
                </a:solidFill>
              </a:rPr>
              <a:t>- </a:t>
            </a:r>
            <a:r>
              <a:rPr lang="zh-CN" altLang="en-US" dirty="0">
                <a:solidFill>
                  <a:srgbClr val="FF0000"/>
                </a:solidFill>
              </a:rPr>
              <a:t>放 </a:t>
            </a:r>
            <a:r>
              <a:rPr lang="en-US" altLang="zh-CN" dirty="0">
                <a:solidFill>
                  <a:srgbClr val="FF0000"/>
                </a:solidFill>
              </a:rPr>
              <a:t>Sc </a:t>
            </a:r>
            <a:r>
              <a:rPr lang="zh-CN" altLang="en-US" dirty="0">
                <a:solidFill>
                  <a:srgbClr val="FF0000"/>
                </a:solidFill>
              </a:rPr>
              <a:t>组符合预期的验证图或统计结果摘要。（</a:t>
            </a:r>
            <a:r>
              <a:rPr lang="en-US" altLang="zh-CN" dirty="0">
                <a:solidFill>
                  <a:srgbClr val="FF0000"/>
                </a:solidFill>
              </a:rPr>
              <a:t>YU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6AA0B41-ADB3-67E0-1851-647E3231B0BF}"/>
              </a:ext>
            </a:extLst>
          </p:cNvPr>
          <p:cNvSpPr txBox="1"/>
          <p:nvPr/>
        </p:nvSpPr>
        <p:spPr>
          <a:xfrm>
            <a:off x="0" y="3846431"/>
            <a:ext cx="2102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阶段性成果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2F36CA-16F4-58D6-E705-00A80E3B0E08}"/>
              </a:ext>
            </a:extLst>
          </p:cNvPr>
          <p:cNvSpPr txBox="1"/>
          <p:nvPr/>
        </p:nvSpPr>
        <p:spPr>
          <a:xfrm>
            <a:off x="29517" y="5049788"/>
            <a:ext cx="1804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后续计划与预期成果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23586ACD-CBCF-669A-1372-447579E28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453323"/>
              </p:ext>
            </p:extLst>
          </p:nvPr>
        </p:nvGraphicFramePr>
        <p:xfrm>
          <a:off x="2225160" y="2029057"/>
          <a:ext cx="3496371" cy="1838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542">
                  <a:extLst>
                    <a:ext uri="{9D8B030D-6E8A-4147-A177-3AD203B41FA5}">
                      <a16:colId xmlns:a16="http://schemas.microsoft.com/office/drawing/2014/main" val="2051512446"/>
                    </a:ext>
                  </a:extLst>
                </a:gridCol>
                <a:gridCol w="1655567">
                  <a:extLst>
                    <a:ext uri="{9D8B030D-6E8A-4147-A177-3AD203B41FA5}">
                      <a16:colId xmlns:a16="http://schemas.microsoft.com/office/drawing/2014/main" val="3807782857"/>
                    </a:ext>
                  </a:extLst>
                </a:gridCol>
                <a:gridCol w="1363262">
                  <a:extLst>
                    <a:ext uri="{9D8B030D-6E8A-4147-A177-3AD203B41FA5}">
                      <a16:colId xmlns:a16="http://schemas.microsoft.com/office/drawing/2014/main" val="2088770703"/>
                    </a:ext>
                  </a:extLst>
                </a:gridCol>
              </a:tblGrid>
              <a:tr h="9242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Nc</a:t>
                      </a:r>
                      <a:endParaRPr lang="zh-CN" alt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非敏感</a:t>
                      </a: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变化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对照组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更合理的比较参照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220528"/>
                  </a:ext>
                </a:extLst>
              </a:tr>
              <a:tr h="8871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</a:t>
                      </a:r>
                      <a:endParaRPr lang="zh-CN" altLang="en-US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敏感变化的校准对照组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更干净的敏感属性变化本身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99748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82E28B39-8F82-77CB-D701-4BEA8EB03E72}"/>
              </a:ext>
            </a:extLst>
          </p:cNvPr>
          <p:cNvSpPr txBox="1"/>
          <p:nvPr/>
        </p:nvSpPr>
        <p:spPr>
          <a:xfrm>
            <a:off x="1961926" y="5982906"/>
            <a:ext cx="96913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针对发现的问题，提出并验证了更合适的实验对照设计，固化生成方法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A8480D-DC8E-EC59-9F55-75554C914CD0}"/>
              </a:ext>
            </a:extLst>
          </p:cNvPr>
          <p:cNvSpPr txBox="1"/>
          <p:nvPr/>
        </p:nvSpPr>
        <p:spPr>
          <a:xfrm>
            <a:off x="180672" y="1832383"/>
            <a:ext cx="18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选题背景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22B550-0D1C-1A6E-6844-E4D6260B9C49}"/>
              </a:ext>
            </a:extLst>
          </p:cNvPr>
          <p:cNvSpPr txBox="1"/>
          <p:nvPr/>
        </p:nvSpPr>
        <p:spPr>
          <a:xfrm>
            <a:off x="180672" y="2832941"/>
            <a:ext cx="18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研究内容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80A98B6-4D13-15C7-5D1F-07FFCCEDC064}"/>
              </a:ext>
            </a:extLst>
          </p:cNvPr>
          <p:cNvSpPr txBox="1"/>
          <p:nvPr/>
        </p:nvSpPr>
        <p:spPr>
          <a:xfrm>
            <a:off x="2044488" y="4203949"/>
            <a:ext cx="4608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从单次生成→普适性生成方法：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1D034C9-4458-C214-2EEC-EED82088AC0B}"/>
              </a:ext>
            </a:extLst>
          </p:cNvPr>
          <p:cNvSpPr/>
          <p:nvPr/>
        </p:nvSpPr>
        <p:spPr>
          <a:xfrm>
            <a:off x="2225160" y="4955177"/>
            <a:ext cx="1804781" cy="75158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accent2"/>
                </a:solidFill>
              </a:rPr>
              <a:t>生成代码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10D9DF0-3766-5441-BDF0-6BDC6CA2C1C7}"/>
              </a:ext>
            </a:extLst>
          </p:cNvPr>
          <p:cNvSpPr/>
          <p:nvPr/>
        </p:nvSpPr>
        <p:spPr>
          <a:xfrm>
            <a:off x="5303640" y="4955177"/>
            <a:ext cx="1804781" cy="75158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accent2"/>
                </a:solidFill>
              </a:rPr>
              <a:t>变化素材</a:t>
            </a:r>
          </a:p>
        </p:txBody>
      </p:sp>
      <p:sp>
        <p:nvSpPr>
          <p:cNvPr id="20" name="加号 19">
            <a:extLst>
              <a:ext uri="{FF2B5EF4-FFF2-40B4-BE49-F238E27FC236}">
                <a16:creationId xmlns:a16="http://schemas.microsoft.com/office/drawing/2014/main" id="{5ACCBD24-81BA-2A28-B07B-66C5ACC3584E}"/>
              </a:ext>
            </a:extLst>
          </p:cNvPr>
          <p:cNvSpPr/>
          <p:nvPr/>
        </p:nvSpPr>
        <p:spPr>
          <a:xfrm>
            <a:off x="4385432" y="5105995"/>
            <a:ext cx="597551" cy="525157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064BE95-7C79-2CA9-FACC-5BFCFE9EB413}"/>
              </a:ext>
            </a:extLst>
          </p:cNvPr>
          <p:cNvSpPr txBox="1"/>
          <p:nvPr/>
        </p:nvSpPr>
        <p:spPr>
          <a:xfrm>
            <a:off x="8090143" y="4999241"/>
            <a:ext cx="3753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放名字替换集合部分展示（</a:t>
            </a:r>
            <a:r>
              <a:rPr lang="en-US" altLang="zh-CN" dirty="0">
                <a:solidFill>
                  <a:srgbClr val="FF0000"/>
                </a:solidFill>
              </a:rPr>
              <a:t>YU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014476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BE6D1-FEDF-668F-198C-C6CEEC2E1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92E1A78-9646-D4FE-2752-D44181BBB73F}"/>
              </a:ext>
            </a:extLst>
          </p:cNvPr>
          <p:cNvSpPr/>
          <p:nvPr/>
        </p:nvSpPr>
        <p:spPr>
          <a:xfrm>
            <a:off x="0" y="0"/>
            <a:ext cx="17009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355F01-4D54-B95E-59C6-4EB262709105}"/>
              </a:ext>
            </a:extLst>
          </p:cNvPr>
          <p:cNvSpPr/>
          <p:nvPr/>
        </p:nvSpPr>
        <p:spPr>
          <a:xfrm>
            <a:off x="0" y="3597028"/>
            <a:ext cx="1700979" cy="931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A51D04A1-C099-6ED5-5D52-590E7D5FFB42}"/>
              </a:ext>
            </a:extLst>
          </p:cNvPr>
          <p:cNvCxnSpPr>
            <a:cxnSpLocks/>
          </p:cNvCxnSpPr>
          <p:nvPr/>
        </p:nvCxnSpPr>
        <p:spPr>
          <a:xfrm>
            <a:off x="2117114" y="1010994"/>
            <a:ext cx="9536170" cy="0"/>
          </a:xfrm>
          <a:prstGeom prst="line">
            <a:avLst/>
          </a:prstGeom>
          <a:ln w="12700">
            <a:solidFill>
              <a:schemeClr val="accent1">
                <a:alpha val="2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67D2113-E044-5631-808C-9189803D877C}"/>
              </a:ext>
            </a:extLst>
          </p:cNvPr>
          <p:cNvSpPr txBox="1"/>
          <p:nvPr/>
        </p:nvSpPr>
        <p:spPr>
          <a:xfrm>
            <a:off x="2117112" y="401079"/>
            <a:ext cx="8398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改进指标：形成数据分析方法与工程化工具雏形</a:t>
            </a:r>
            <a:endParaRPr lang="en" altLang="zh-CN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6794AC3-0680-3F3F-90D5-AC79926644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r="76024"/>
          <a:stretch/>
        </p:blipFill>
        <p:spPr>
          <a:xfrm>
            <a:off x="464221" y="280267"/>
            <a:ext cx="772536" cy="95112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9942D57-1A73-EF77-C0AA-BF545347D50F}"/>
              </a:ext>
            </a:extLst>
          </p:cNvPr>
          <p:cNvSpPr txBox="1"/>
          <p:nvPr/>
        </p:nvSpPr>
        <p:spPr>
          <a:xfrm>
            <a:off x="2336799" y="1179591"/>
            <a:ext cx="83681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新的数据分析方法</a:t>
            </a:r>
            <a:r>
              <a:rPr lang="zh-CN" altLang="en-US" dirty="0"/>
              <a:t>：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B34A28-AC90-2514-8747-740AA9FBFB01}"/>
              </a:ext>
            </a:extLst>
          </p:cNvPr>
          <p:cNvSpPr txBox="1"/>
          <p:nvPr/>
        </p:nvSpPr>
        <p:spPr>
          <a:xfrm>
            <a:off x="0" y="3846431"/>
            <a:ext cx="2102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阶段性成果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32D199A-770D-E12E-81B3-633ABFCFC45B}"/>
              </a:ext>
            </a:extLst>
          </p:cNvPr>
          <p:cNvSpPr txBox="1"/>
          <p:nvPr/>
        </p:nvSpPr>
        <p:spPr>
          <a:xfrm>
            <a:off x="29517" y="5049788"/>
            <a:ext cx="1804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后续计划与预期成果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44C0045C-A895-C336-E0CF-571C7B23E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946200"/>
              </p:ext>
            </p:extLst>
          </p:nvPr>
        </p:nvGraphicFramePr>
        <p:xfrm>
          <a:off x="2225160" y="1669240"/>
          <a:ext cx="678821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230">
                  <a:extLst>
                    <a:ext uri="{9D8B030D-6E8A-4147-A177-3AD203B41FA5}">
                      <a16:colId xmlns:a16="http://schemas.microsoft.com/office/drawing/2014/main" val="2059116610"/>
                    </a:ext>
                  </a:extLst>
                </a:gridCol>
                <a:gridCol w="5558981">
                  <a:extLst>
                    <a:ext uri="{9D8B030D-6E8A-4147-A177-3AD203B41FA5}">
                      <a16:colId xmlns:a16="http://schemas.microsoft.com/office/drawing/2014/main" val="1749311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回归分析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用于衡量输入变化对输出变化解释的影响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27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阈值分析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用于分析不同条件下输出变化的异常程度或敏感程度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565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归因分析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用于观察不同样本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区间中的重叠与稳定性</a:t>
                      </a: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108850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757D1131-A833-C169-F2A6-3798D1A3A71C}"/>
              </a:ext>
            </a:extLst>
          </p:cNvPr>
          <p:cNvSpPr txBox="1"/>
          <p:nvPr/>
        </p:nvSpPr>
        <p:spPr>
          <a:xfrm>
            <a:off x="2336800" y="2942457"/>
            <a:ext cx="836814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创新意义：</a:t>
            </a:r>
            <a:endParaRPr lang="en-US" altLang="zh-CN" sz="2400" dirty="0"/>
          </a:p>
          <a:p>
            <a:r>
              <a:rPr lang="zh-CN" altLang="en-US" sz="2400" dirty="0"/>
              <a:t>能近似区分</a:t>
            </a:r>
            <a:r>
              <a:rPr lang="zh-CN" altLang="en-US" sz="2800" dirty="0">
                <a:solidFill>
                  <a:schemeClr val="accent1"/>
                </a:solidFill>
              </a:rPr>
              <a:t>“输入变化导致的合理输出变化”</a:t>
            </a:r>
            <a:endParaRPr lang="en-US" altLang="zh-CN" sz="2800" dirty="0">
              <a:solidFill>
                <a:schemeClr val="accent1"/>
              </a:solidFill>
            </a:endParaRPr>
          </a:p>
          <a:p>
            <a:r>
              <a:rPr lang="zh-CN" altLang="en-US" sz="2400" dirty="0"/>
              <a:t>和</a:t>
            </a:r>
            <a:r>
              <a:rPr lang="zh-CN" altLang="en-US" sz="2800" dirty="0">
                <a:solidFill>
                  <a:schemeClr val="accent1"/>
                </a:solidFill>
              </a:rPr>
              <a:t>“可能异常的输出变化”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可以基于统计方法形成</a:t>
            </a:r>
            <a:r>
              <a:rPr lang="zh-CN" altLang="en-US" sz="2800" dirty="0">
                <a:solidFill>
                  <a:schemeClr val="accent1"/>
                </a:solidFill>
              </a:rPr>
              <a:t>更稳定、可复用的评估流程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B447BE5-F7FE-D47E-AB5C-472D2296426B}"/>
              </a:ext>
            </a:extLst>
          </p:cNvPr>
          <p:cNvSpPr/>
          <p:nvPr/>
        </p:nvSpPr>
        <p:spPr>
          <a:xfrm>
            <a:off x="2393535" y="5104107"/>
            <a:ext cx="2842814" cy="36117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输入数据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46B62CC-A22C-16AD-7902-4BED60A8E8E3}"/>
              </a:ext>
            </a:extLst>
          </p:cNvPr>
          <p:cNvSpPr/>
          <p:nvPr/>
        </p:nvSpPr>
        <p:spPr>
          <a:xfrm>
            <a:off x="5821763" y="5023090"/>
            <a:ext cx="2842814" cy="7218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自动计算</a:t>
            </a:r>
            <a:r>
              <a:rPr lang="en-US" altLang="zh-CN" sz="2400" b="1" dirty="0" err="1">
                <a:solidFill>
                  <a:schemeClr val="tx1"/>
                </a:solidFill>
              </a:rPr>
              <a:t>deltaIN</a:t>
            </a:r>
            <a:r>
              <a:rPr lang="en-US" altLang="zh-CN" sz="2400" b="1" dirty="0">
                <a:solidFill>
                  <a:schemeClr val="tx1"/>
                </a:solidFill>
              </a:rPr>
              <a:t>/</a:t>
            </a:r>
            <a:r>
              <a:rPr lang="en-US" altLang="zh-CN" sz="2400" b="1" dirty="0" err="1">
                <a:solidFill>
                  <a:schemeClr val="tx1"/>
                </a:solidFill>
              </a:rPr>
              <a:t>deltaOUT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E561FE4-03E0-33A6-2788-063970628CA5}"/>
              </a:ext>
            </a:extLst>
          </p:cNvPr>
          <p:cNvSpPr/>
          <p:nvPr/>
        </p:nvSpPr>
        <p:spPr>
          <a:xfrm>
            <a:off x="8946890" y="5164801"/>
            <a:ext cx="2842814" cy="36117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运行</a:t>
            </a:r>
            <a:r>
              <a:rPr lang="en-US" altLang="zh-CN" sz="2400" b="1" dirty="0">
                <a:solidFill>
                  <a:schemeClr val="tx1"/>
                </a:solidFill>
              </a:rPr>
              <a:t>F/At/Oa</a:t>
            </a:r>
            <a:r>
              <a:rPr lang="zh-CN" altLang="en-US" sz="2400" b="1" dirty="0">
                <a:solidFill>
                  <a:schemeClr val="tx1"/>
                </a:solidFill>
              </a:rPr>
              <a:t>分析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6891320A-3A2A-1148-6716-43F53F8F142E}"/>
              </a:ext>
            </a:extLst>
          </p:cNvPr>
          <p:cNvSpPr/>
          <p:nvPr/>
        </p:nvSpPr>
        <p:spPr>
          <a:xfrm>
            <a:off x="5437890" y="5305499"/>
            <a:ext cx="237714" cy="15701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072F93A-08BE-35F5-0A0C-3E2CF95DC0ED}"/>
              </a:ext>
            </a:extLst>
          </p:cNvPr>
          <p:cNvSpPr/>
          <p:nvPr/>
        </p:nvSpPr>
        <p:spPr>
          <a:xfrm>
            <a:off x="4419341" y="5880785"/>
            <a:ext cx="4545159" cy="4865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输出统计报告与风险提示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2A69C826-59D4-DC00-37D6-2F31CC9537E5}"/>
              </a:ext>
            </a:extLst>
          </p:cNvPr>
          <p:cNvSpPr/>
          <p:nvPr/>
        </p:nvSpPr>
        <p:spPr>
          <a:xfrm>
            <a:off x="8686876" y="5305499"/>
            <a:ext cx="237714" cy="15701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圆角右 30">
            <a:extLst>
              <a:ext uri="{FF2B5EF4-FFF2-40B4-BE49-F238E27FC236}">
                <a16:creationId xmlns:a16="http://schemas.microsoft.com/office/drawing/2014/main" id="{E1690E8C-8CDE-DFB0-66B9-E51429E34600}"/>
              </a:ext>
            </a:extLst>
          </p:cNvPr>
          <p:cNvSpPr/>
          <p:nvPr/>
        </p:nvSpPr>
        <p:spPr>
          <a:xfrm rot="10800000">
            <a:off x="9097819" y="5647089"/>
            <a:ext cx="824299" cy="721835"/>
          </a:xfrm>
          <a:prstGeom prst="ben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3C1F08-F9EC-EB63-C3A7-B30F57F4D243}"/>
              </a:ext>
            </a:extLst>
          </p:cNvPr>
          <p:cNvSpPr txBox="1"/>
          <p:nvPr/>
        </p:nvSpPr>
        <p:spPr>
          <a:xfrm>
            <a:off x="180672" y="1832383"/>
            <a:ext cx="18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选题背景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FBEDB6-AF7F-C2D4-1C5F-93EE95985662}"/>
              </a:ext>
            </a:extLst>
          </p:cNvPr>
          <p:cNvSpPr txBox="1"/>
          <p:nvPr/>
        </p:nvSpPr>
        <p:spPr>
          <a:xfrm>
            <a:off x="180672" y="2832941"/>
            <a:ext cx="18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研究内容</a:t>
            </a:r>
          </a:p>
        </p:txBody>
      </p:sp>
    </p:spTree>
    <p:extLst>
      <p:ext uri="{BB962C8B-B14F-4D97-AF65-F5344CB8AC3E}">
        <p14:creationId xmlns:p14="http://schemas.microsoft.com/office/powerpoint/2010/main" val="3769198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AD982E5-8718-B92C-A56A-E3A8638FCE5F}"/>
              </a:ext>
            </a:extLst>
          </p:cNvPr>
          <p:cNvSpPr/>
          <p:nvPr/>
        </p:nvSpPr>
        <p:spPr>
          <a:xfrm>
            <a:off x="0" y="6480574"/>
            <a:ext cx="12192000" cy="37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F2E442B-3FA7-34AC-9DEE-E302933228E1}"/>
              </a:ext>
            </a:extLst>
          </p:cNvPr>
          <p:cNvSpPr/>
          <p:nvPr/>
        </p:nvSpPr>
        <p:spPr>
          <a:xfrm>
            <a:off x="5656385" y="2182104"/>
            <a:ext cx="879230" cy="8792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9512D53-3A84-73C8-6E98-C228793B24AD}"/>
              </a:ext>
            </a:extLst>
          </p:cNvPr>
          <p:cNvSpPr txBox="1"/>
          <p:nvPr/>
        </p:nvSpPr>
        <p:spPr>
          <a:xfrm>
            <a:off x="5304692" y="2360109"/>
            <a:ext cx="1582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kumimoji="1" lang="zh-CN" altLang="en-US" sz="2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385746-B4E6-BF32-17DA-B6E706A4F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0140" y="349617"/>
            <a:ext cx="1777041" cy="52454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DCE24B6-3B2A-5C2F-DC33-E5248876B639}"/>
              </a:ext>
            </a:extLst>
          </p:cNvPr>
          <p:cNvSpPr txBox="1"/>
          <p:nvPr/>
        </p:nvSpPr>
        <p:spPr>
          <a:xfrm>
            <a:off x="2463896" y="3054673"/>
            <a:ext cx="72642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6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后续计划与预期成果</a:t>
            </a:r>
            <a:endParaRPr kumimoji="1" lang="en-US" altLang="zh-CN" sz="6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114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CE27A0B1-459E-A8AE-5914-BCBDC621D390}"/>
              </a:ext>
            </a:extLst>
          </p:cNvPr>
          <p:cNvCxnSpPr>
            <a:cxnSpLocks/>
          </p:cNvCxnSpPr>
          <p:nvPr/>
        </p:nvCxnSpPr>
        <p:spPr>
          <a:xfrm>
            <a:off x="2117114" y="1010994"/>
            <a:ext cx="9536170" cy="0"/>
          </a:xfrm>
          <a:prstGeom prst="line">
            <a:avLst/>
          </a:prstGeom>
          <a:ln w="12700">
            <a:solidFill>
              <a:schemeClr val="accent1">
                <a:alpha val="2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909B780-E601-C43E-4982-714F736EA71F}"/>
              </a:ext>
            </a:extLst>
          </p:cNvPr>
          <p:cNvSpPr txBox="1"/>
          <p:nvPr/>
        </p:nvSpPr>
        <p:spPr>
          <a:xfrm>
            <a:off x="2117112" y="401079"/>
            <a:ext cx="8398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" altLang="zh-CN"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后续计划与预期成果</a:t>
            </a:r>
            <a:endParaRPr lang="en" altLang="zh-CN" sz="28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CF4FF2-53EE-86F2-6A87-AA6F87086254}"/>
              </a:ext>
            </a:extLst>
          </p:cNvPr>
          <p:cNvSpPr/>
          <p:nvPr/>
        </p:nvSpPr>
        <p:spPr>
          <a:xfrm>
            <a:off x="0" y="0"/>
            <a:ext cx="17009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6EAB52-D65F-A59F-6D77-F7A38429059D}"/>
              </a:ext>
            </a:extLst>
          </p:cNvPr>
          <p:cNvSpPr/>
          <p:nvPr/>
        </p:nvSpPr>
        <p:spPr>
          <a:xfrm>
            <a:off x="0" y="4754881"/>
            <a:ext cx="1700979" cy="13855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B214E48-4927-8544-E189-39DC946AB6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r="76024"/>
          <a:stretch/>
        </p:blipFill>
        <p:spPr>
          <a:xfrm>
            <a:off x="464221" y="280267"/>
            <a:ext cx="772536" cy="95112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2648E0C-F689-56C2-DDB3-17CB20134059}"/>
              </a:ext>
            </a:extLst>
          </p:cNvPr>
          <p:cNvSpPr txBox="1"/>
          <p:nvPr/>
        </p:nvSpPr>
        <p:spPr>
          <a:xfrm>
            <a:off x="2320228" y="4877510"/>
            <a:ext cx="74204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预期成果：</a:t>
            </a:r>
            <a:endParaRPr lang="en-US" altLang="zh-CN" sz="2400" b="1" dirty="0">
              <a:solidFill>
                <a:schemeClr val="accent1"/>
              </a:solidFill>
            </a:endParaRPr>
          </a:p>
          <a:p>
            <a:r>
              <a:rPr lang="zh-CN" altLang="en-US" sz="2400" b="1" dirty="0"/>
              <a:t>一篇关于测试原理的论文</a:t>
            </a:r>
            <a:endParaRPr lang="en-US" altLang="zh-CN" sz="2400" b="1" dirty="0"/>
          </a:p>
          <a:p>
            <a:r>
              <a:rPr lang="zh-CN" altLang="en-US" sz="2400" b="1" dirty="0"/>
              <a:t>一套更谨慎的机器翻译公平性测试流程</a:t>
            </a:r>
            <a:endParaRPr lang="en-US" altLang="zh-CN" sz="2400" b="1" dirty="0"/>
          </a:p>
          <a:p>
            <a:r>
              <a:rPr lang="zh-CN" altLang="en-US" sz="2400" b="1" dirty="0"/>
              <a:t>一个便于使用的工程化评估流程工具</a:t>
            </a:r>
            <a:endParaRPr lang="en-US" altLang="zh-CN" sz="2400" b="1" dirty="0"/>
          </a:p>
          <a:p>
            <a:endParaRPr lang="zh-CN" altLang="en-US" sz="2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B63CE75-D6D1-4F79-EF73-8B004D6413C0}"/>
              </a:ext>
            </a:extLst>
          </p:cNvPr>
          <p:cNvSpPr txBox="1"/>
          <p:nvPr/>
        </p:nvSpPr>
        <p:spPr>
          <a:xfrm>
            <a:off x="0" y="3846431"/>
            <a:ext cx="2102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阶段性成果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C263FAF-40F5-ABC4-BD86-93AAD6B6E272}"/>
              </a:ext>
            </a:extLst>
          </p:cNvPr>
          <p:cNvSpPr txBox="1"/>
          <p:nvPr/>
        </p:nvSpPr>
        <p:spPr>
          <a:xfrm>
            <a:off x="29517" y="5049788"/>
            <a:ext cx="1804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后续计划与预期成果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20852C9-E230-3AC0-3F25-FD5A935AD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012231"/>
              </p:ext>
            </p:extLst>
          </p:nvPr>
        </p:nvGraphicFramePr>
        <p:xfrm>
          <a:off x="2394856" y="1528601"/>
          <a:ext cx="8813075" cy="2831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1">
                  <a:extLst>
                    <a:ext uri="{9D8B030D-6E8A-4147-A177-3AD203B41FA5}">
                      <a16:colId xmlns:a16="http://schemas.microsoft.com/office/drawing/2014/main" val="3480843880"/>
                    </a:ext>
                  </a:extLst>
                </a:gridCol>
                <a:gridCol w="5521234">
                  <a:extLst>
                    <a:ext uri="{9D8B030D-6E8A-4147-A177-3AD203B41FA5}">
                      <a16:colId xmlns:a16="http://schemas.microsoft.com/office/drawing/2014/main" val="1855701415"/>
                    </a:ext>
                  </a:extLst>
                </a:gridCol>
              </a:tblGrid>
              <a:tr h="6785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检验结论普适性</a:t>
                      </a:r>
                      <a:endParaRPr lang="en-US" altLang="zh-CN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进一步补充现有指标在更多数据集和翻译模型的稳定性证据</a:t>
                      </a:r>
                      <a:endParaRPr lang="en-US" altLang="zh-CN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466116"/>
                  </a:ext>
                </a:extLst>
              </a:tr>
              <a:tr h="593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评价体系交叉验证</a:t>
                      </a:r>
                      <a:endParaRPr lang="en-US" altLang="zh-CN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设计比较公式，借助交叉比较增强各指标可信度</a:t>
                      </a:r>
                      <a:endParaRPr lang="en-US" altLang="zh-CN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960861"/>
                  </a:ext>
                </a:extLst>
              </a:tr>
              <a:tr h="8360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形成改进后的测试流程</a:t>
                      </a:r>
                      <a:endParaRPr lang="en-US" altLang="zh-CN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以“新对照组 + 初始变化量校准 + 多维统计分析”为核心，完善方法闭环</a:t>
                      </a:r>
                      <a:endParaRPr lang="en-US" altLang="zh-CN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AC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508454"/>
                  </a:ext>
                </a:extLst>
              </a:tr>
              <a:tr h="6785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推进工程化工具</a:t>
                      </a:r>
                      <a:endParaRPr lang="en-US" altLang="zh-CN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尝试将统计分析流程转化为自动化报告或辅助评估工具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573709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D4B8793-C610-A622-770D-B25FC1FF4792}"/>
              </a:ext>
            </a:extLst>
          </p:cNvPr>
          <p:cNvSpPr txBox="1"/>
          <p:nvPr/>
        </p:nvSpPr>
        <p:spPr>
          <a:xfrm>
            <a:off x="180672" y="1832383"/>
            <a:ext cx="18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选题背景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E61D1FB-9524-FB4B-1FE4-FD1708205D87}"/>
              </a:ext>
            </a:extLst>
          </p:cNvPr>
          <p:cNvSpPr txBox="1"/>
          <p:nvPr/>
        </p:nvSpPr>
        <p:spPr>
          <a:xfrm>
            <a:off x="180672" y="2832941"/>
            <a:ext cx="18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研究内容</a:t>
            </a:r>
          </a:p>
        </p:txBody>
      </p:sp>
    </p:spTree>
    <p:extLst>
      <p:ext uri="{BB962C8B-B14F-4D97-AF65-F5344CB8AC3E}">
        <p14:creationId xmlns:p14="http://schemas.microsoft.com/office/powerpoint/2010/main" val="3112105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7F409E1-55DA-8F49-1BDA-D3CDA37B8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15363" b="15363"/>
          <a:stretch/>
        </p:blipFill>
        <p:spPr bwMode="auto">
          <a:xfrm>
            <a:off x="-1" y="1906438"/>
            <a:ext cx="12191999" cy="495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1FAC132-1CCF-8B13-9F21-05B206275BA4}"/>
              </a:ext>
            </a:extLst>
          </p:cNvPr>
          <p:cNvSpPr/>
          <p:nvPr/>
        </p:nvSpPr>
        <p:spPr>
          <a:xfrm>
            <a:off x="0" y="1906438"/>
            <a:ext cx="12192000" cy="4951562"/>
          </a:xfrm>
          <a:prstGeom prst="rect">
            <a:avLst/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2BA0F9-5829-180E-0EAB-AE5DA31DC0D0}"/>
              </a:ext>
            </a:extLst>
          </p:cNvPr>
          <p:cNvSpPr txBox="1"/>
          <p:nvPr/>
        </p:nvSpPr>
        <p:spPr>
          <a:xfrm>
            <a:off x="-381001" y="3168520"/>
            <a:ext cx="1295400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F05191-EFAA-0F7F-59DE-C18CF7206227}"/>
              </a:ext>
            </a:extLst>
          </p:cNvPr>
          <p:cNvSpPr txBox="1"/>
          <p:nvPr/>
        </p:nvSpPr>
        <p:spPr>
          <a:xfrm>
            <a:off x="3721305" y="4880263"/>
            <a:ext cx="4749388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答辩者：于静涵 陈思贤</a:t>
            </a:r>
            <a:endParaRPr kumimoji="1" lang="en-US" altLang="zh-C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指导老师：李言辉</a:t>
            </a:r>
            <a:endParaRPr kumimoji="1" lang="en-US" altLang="zh-C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endParaRPr kumimoji="1" lang="en-US" altLang="zh-C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080059-0EAB-6F5C-D7F0-FCBB9497FF35}"/>
              </a:ext>
            </a:extLst>
          </p:cNvPr>
          <p:cNvSpPr txBox="1"/>
          <p:nvPr/>
        </p:nvSpPr>
        <p:spPr>
          <a:xfrm>
            <a:off x="3721303" y="5821875"/>
            <a:ext cx="4749388" cy="504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2026/05/20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9C37FB0-526F-85B6-CC3E-66E33893F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914" y="559718"/>
            <a:ext cx="3222172" cy="95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771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378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B3C89"/>
      </a:accent1>
      <a:accent2>
        <a:srgbClr val="8B3C89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865</Words>
  <Application>Microsoft Office PowerPoint</Application>
  <PresentationFormat>宽屏</PresentationFormat>
  <Paragraphs>146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等线 Light</vt:lpstr>
      <vt:lpstr>黑体</vt:lpstr>
      <vt:lpstr>Microsoft YaHei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Microsoft Office User</dc:creator>
  <cp:keywords/>
  <dc:description/>
  <cp:lastModifiedBy>JingHan Yu</cp:lastModifiedBy>
  <cp:revision>4</cp:revision>
  <dcterms:created xsi:type="dcterms:W3CDTF">2023-04-06T03:56:33Z</dcterms:created>
  <dcterms:modified xsi:type="dcterms:W3CDTF">2026-05-18T17:02:56Z</dcterms:modified>
  <cp:category/>
</cp:coreProperties>
</file>